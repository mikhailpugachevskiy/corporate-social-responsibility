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269" r:id="rId3"/>
    <p:sldId id="290" r:id="rId4"/>
    <p:sldId id="293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71" r:id="rId16"/>
    <p:sldId id="268" r:id="rId17"/>
    <p:sldId id="273" r:id="rId18"/>
    <p:sldId id="289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6" r:id="rId28"/>
    <p:sldId id="292" r:id="rId29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05" autoAdjust="0"/>
    <p:restoredTop sz="94652" autoAdjust="0"/>
  </p:normalViewPr>
  <p:slideViewPr>
    <p:cSldViewPr>
      <p:cViewPr varScale="1">
        <p:scale>
          <a:sx n="81" d="100"/>
          <a:sy n="81" d="100"/>
        </p:scale>
        <p:origin x="148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E3BD0-AE53-4448-8616-BC40E7A597DB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22DCB-E671-7E48-9426-86111BFAFA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46463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C842B-A6D7-FE4A-A4D5-3F94EB58B6FB}" type="datetimeFigureOut">
              <a:rPr lang="de-DE" smtClean="0"/>
              <a:t>23.09.2026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736D68-D891-D744-9F3F-60A20B0A24E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48058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*Polarisierung?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736D68-D891-D744-9F3F-60A20B0A24E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4929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736D68-D891-D744-9F3F-60A20B0A24E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4929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Höhere</a:t>
            </a:r>
            <a:r>
              <a:rPr lang="de-DE" baseline="0" dirty="0"/>
              <a:t> Klasse?</a:t>
            </a:r>
            <a:endParaRPr lang="de-DE" dirty="0"/>
          </a:p>
          <a:p>
            <a:r>
              <a:rPr lang="de-DE" dirty="0"/>
              <a:t>Punkt 7.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736D68-D891-D744-9F3F-60A20B0A24E3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3986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. </a:t>
            </a:r>
            <a:r>
              <a:rPr lang="de-DE" dirty="0"/>
              <a:t>Zu 1. Gegenentwurf zum Liberalismus</a:t>
            </a:r>
            <a:r>
              <a:rPr lang="en-GB" baseline="0" dirty="0"/>
              <a:t> </a:t>
            </a:r>
          </a:p>
          <a:p>
            <a:r>
              <a:rPr lang="en-GB" baseline="0" dirty="0" err="1"/>
              <a:t>Punkt</a:t>
            </a:r>
            <a:r>
              <a:rPr lang="en-GB" baseline="0" dirty="0"/>
              <a:t> 2 </a:t>
            </a:r>
            <a:r>
              <a:rPr lang="en-GB" baseline="0" dirty="0" err="1"/>
              <a:t>erklären</a:t>
            </a:r>
            <a:r>
              <a:rPr lang="en-GB" baseline="0" dirty="0"/>
              <a:t> (</a:t>
            </a:r>
            <a:r>
              <a:rPr lang="en-GB" baseline="0" dirty="0" err="1"/>
              <a:t>sickert</a:t>
            </a:r>
            <a:r>
              <a:rPr lang="en-GB" baseline="0" dirty="0"/>
              <a:t> </a:t>
            </a:r>
            <a:r>
              <a:rPr lang="en-GB" baseline="0" dirty="0" err="1"/>
              <a:t>dann</a:t>
            </a:r>
            <a:r>
              <a:rPr lang="en-GB" baseline="0" dirty="0"/>
              <a:t> in </a:t>
            </a:r>
            <a:r>
              <a:rPr lang="en-GB" baseline="0" dirty="0" err="1"/>
              <a:t>Lebensbereiche</a:t>
            </a:r>
            <a:r>
              <a:rPr lang="en-GB" baseline="0" dirty="0"/>
              <a:t> </a:t>
            </a:r>
            <a:r>
              <a:rPr lang="en-GB" baseline="0" dirty="0" err="1"/>
              <a:t>bis</a:t>
            </a:r>
            <a:r>
              <a:rPr lang="en-GB" baseline="0" dirty="0"/>
              <a:t> </a:t>
            </a:r>
            <a:r>
              <a:rPr lang="en-GB" baseline="0" dirty="0" err="1"/>
              <a:t>normativer</a:t>
            </a:r>
            <a:r>
              <a:rPr lang="en-GB" baseline="0" dirty="0"/>
              <a:t> </a:t>
            </a:r>
            <a:r>
              <a:rPr lang="en-GB" baseline="0" dirty="0" err="1"/>
              <a:t>Rahmen</a:t>
            </a:r>
            <a:r>
              <a:rPr lang="en-GB" baseline="0" dirty="0"/>
              <a:t> </a:t>
            </a:r>
            <a:r>
              <a:rPr lang="en-GB" baseline="0" dirty="0" err="1"/>
              <a:t>beeinflusst</a:t>
            </a:r>
            <a:r>
              <a:rPr lang="en-GB" baseline="0" dirty="0"/>
              <a:t> </a:t>
            </a:r>
            <a:r>
              <a:rPr lang="en-GB" baseline="0" dirty="0" err="1"/>
              <a:t>wird</a:t>
            </a:r>
            <a:r>
              <a:rPr lang="en-GB" baseline="0" dirty="0"/>
              <a:t>)</a:t>
            </a:r>
          </a:p>
          <a:p>
            <a:r>
              <a:rPr lang="en-GB" baseline="0" dirty="0"/>
              <a:t>. </a:t>
            </a:r>
            <a:r>
              <a:rPr lang="en-GB" baseline="0" dirty="0" err="1"/>
              <a:t>anschließend</a:t>
            </a:r>
            <a:r>
              <a:rPr lang="en-GB" baseline="0" dirty="0"/>
              <a:t>: </a:t>
            </a:r>
            <a:r>
              <a:rPr lang="en-GB" baseline="0" dirty="0" err="1"/>
              <a:t>Individuelle</a:t>
            </a:r>
            <a:r>
              <a:rPr lang="en-GB" baseline="0" dirty="0"/>
              <a:t> </a:t>
            </a:r>
            <a:r>
              <a:rPr lang="en-GB" baseline="0" dirty="0" err="1"/>
              <a:t>werte</a:t>
            </a:r>
            <a:r>
              <a:rPr lang="en-GB" baseline="0" dirty="0"/>
              <a:t>,(</a:t>
            </a:r>
            <a:r>
              <a:rPr lang="en-GB" baseline="0" dirty="0" err="1"/>
              <a:t>Ziele</a:t>
            </a:r>
            <a:r>
              <a:rPr lang="en-GB" baseline="0" dirty="0"/>
              <a:t> und </a:t>
            </a:r>
            <a:r>
              <a:rPr lang="en-GB" baseline="0" dirty="0" err="1"/>
              <a:t>Interessen</a:t>
            </a:r>
            <a:r>
              <a:rPr lang="en-GB" baseline="0" dirty="0"/>
              <a:t>) </a:t>
            </a:r>
            <a:r>
              <a:rPr lang="en-GB" baseline="0" dirty="0" err="1"/>
              <a:t>bilden</a:t>
            </a:r>
            <a:r>
              <a:rPr lang="en-GB" baseline="0" dirty="0"/>
              <a:t> also den </a:t>
            </a:r>
            <a:r>
              <a:rPr lang="en-GB" baseline="0" dirty="0" err="1"/>
              <a:t>ausgangspunkt</a:t>
            </a:r>
            <a:r>
              <a:rPr lang="en-GB" baseline="0" dirty="0"/>
              <a:t> und </a:t>
            </a:r>
            <a:r>
              <a:rPr lang="en-GB" baseline="0" dirty="0" err="1"/>
              <a:t>nehmen</a:t>
            </a:r>
            <a:r>
              <a:rPr lang="en-GB" baseline="0" dirty="0"/>
              <a:t> </a:t>
            </a:r>
            <a:r>
              <a:rPr lang="en-GB" baseline="0" dirty="0" err="1"/>
              <a:t>gebündelt</a:t>
            </a:r>
            <a:r>
              <a:rPr lang="en-GB" baseline="0" dirty="0"/>
              <a:t> </a:t>
            </a:r>
            <a:r>
              <a:rPr lang="en-GB" baseline="0" dirty="0" err="1"/>
              <a:t>einfluss</a:t>
            </a:r>
            <a:r>
              <a:rPr lang="en-GB" baseline="0" dirty="0"/>
              <a:t> auf das </a:t>
            </a:r>
            <a:r>
              <a:rPr lang="en-GB" baseline="0" dirty="0" err="1"/>
              <a:t>politsche</a:t>
            </a:r>
            <a:r>
              <a:rPr lang="en-GB" baseline="0" dirty="0"/>
              <a:t> system. Das </a:t>
            </a:r>
            <a:r>
              <a:rPr lang="en-GB" baseline="0" dirty="0" err="1"/>
              <a:t>ganze</a:t>
            </a:r>
            <a:r>
              <a:rPr lang="en-GB" baseline="0" dirty="0"/>
              <a:t> </a:t>
            </a:r>
            <a:r>
              <a:rPr lang="en-GB" baseline="0" dirty="0" err="1"/>
              <a:t>ist</a:t>
            </a:r>
            <a:r>
              <a:rPr lang="en-GB" baseline="0" dirty="0"/>
              <a:t> </a:t>
            </a:r>
            <a:r>
              <a:rPr lang="en-GB" baseline="0" dirty="0" err="1"/>
              <a:t>ein</a:t>
            </a:r>
            <a:r>
              <a:rPr lang="en-GB" baseline="0" dirty="0"/>
              <a:t> </a:t>
            </a:r>
            <a:r>
              <a:rPr lang="en-GB" baseline="0" dirty="0" err="1"/>
              <a:t>diskursiver</a:t>
            </a:r>
            <a:r>
              <a:rPr lang="en-GB" baseline="0" dirty="0"/>
              <a:t> </a:t>
            </a:r>
            <a:r>
              <a:rPr lang="en-GB" baseline="0" dirty="0" err="1"/>
              <a:t>Porzess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FAAE1-EC42-AE48-8735-2C8F3DB6F93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682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 3. damit ist</a:t>
            </a:r>
            <a:r>
              <a:rPr lang="de-DE" baseline="0" dirty="0"/>
              <a:t> gemeint, dass gerade dort wo der </a:t>
            </a:r>
            <a:r>
              <a:rPr lang="de-DE" baseline="0" dirty="0" err="1"/>
              <a:t>staat</a:t>
            </a:r>
            <a:r>
              <a:rPr lang="de-DE" baseline="0" dirty="0"/>
              <a:t> nicht so präsent ist, z.B. dritte </a:t>
            </a:r>
            <a:r>
              <a:rPr lang="de-DE" baseline="0" dirty="0" err="1"/>
              <a:t>welt</a:t>
            </a:r>
            <a:r>
              <a:rPr lang="de-DE" baseline="0" dirty="0"/>
              <a:t>, gesellschaftliche </a:t>
            </a:r>
            <a:r>
              <a:rPr lang="de-DE" baseline="0" dirty="0" err="1"/>
              <a:t>organisationen</a:t>
            </a:r>
            <a:r>
              <a:rPr lang="de-DE" baseline="0" dirty="0"/>
              <a:t> und öffentlicher </a:t>
            </a:r>
            <a:r>
              <a:rPr lang="de-DE" baseline="0" dirty="0" err="1"/>
              <a:t>diskurs</a:t>
            </a:r>
            <a:r>
              <a:rPr lang="de-DE" baseline="0" dirty="0"/>
              <a:t> die </a:t>
            </a:r>
            <a:r>
              <a:rPr lang="de-DE" baseline="0" dirty="0" err="1"/>
              <a:t>sanktionskraft</a:t>
            </a:r>
            <a:r>
              <a:rPr lang="de-DE" baseline="0" dirty="0"/>
              <a:t> des </a:t>
            </a:r>
            <a:r>
              <a:rPr lang="de-DE" baseline="0" dirty="0" err="1"/>
              <a:t>staates</a:t>
            </a:r>
            <a:r>
              <a:rPr lang="de-DE" baseline="0" dirty="0"/>
              <a:t> ersetzen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/>
              <a:t>Zu 4. -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Chiquitas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konsequent im Diskurs mit der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Rainforest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Alliance vorangetriebener umwelt-</a:t>
            </a:r>
            <a:r>
              <a:rPr lang="de-DE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sozialverträglicher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Anbau von Bananen,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Coca Colas Einsatz im Kampf gegen AIDS in Afrika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HPs Vorreiterrolle bei der Schließung von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Produktkreisläufen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der Forcierung entsprechender Regeln. </a:t>
            </a:r>
          </a:p>
          <a:p>
            <a:pPr marL="171450" marR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BPs Engagement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rnr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Kyotoprotokoll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FAAE1-EC42-AE48-8735-2C8F3DB6F93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802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Allgemein: aussagen</a:t>
            </a:r>
            <a:r>
              <a:rPr lang="de-DE" baseline="0" dirty="0"/>
              <a:t> von </a:t>
            </a:r>
            <a:r>
              <a:rPr lang="de-DE" baseline="0" dirty="0" err="1"/>
              <a:t>wieland</a:t>
            </a:r>
            <a:r>
              <a:rPr lang="de-DE" baseline="0" dirty="0"/>
              <a:t> die für eine pol. Einbettung seiner </a:t>
            </a:r>
            <a:r>
              <a:rPr lang="de-DE" baseline="0" dirty="0" err="1"/>
              <a:t>theorie</a:t>
            </a:r>
            <a:r>
              <a:rPr lang="de-DE" baseline="0" dirty="0"/>
              <a:t> sprechen</a:t>
            </a:r>
          </a:p>
          <a:p>
            <a:r>
              <a:rPr lang="de-DE" baseline="0" dirty="0"/>
              <a:t>Zu 1. *nicht mehr der Staat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FAAE1-EC42-AE48-8735-2C8F3DB6F93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705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Zu 1. entzieht sich der Frage nach </a:t>
            </a:r>
            <a:r>
              <a:rPr lang="de-DE" dirty="0" err="1"/>
              <a:t>vorrang</a:t>
            </a:r>
            <a:r>
              <a:rPr lang="de-DE" baseline="0" dirty="0"/>
              <a:t> </a:t>
            </a:r>
            <a:r>
              <a:rPr lang="de-DE" dirty="0"/>
              <a:t>„ dass</a:t>
            </a:r>
            <a:r>
              <a:rPr lang="de-DE" baseline="0" dirty="0"/>
              <a:t> es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keinen automatischen Vorrang der Ethik vor der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Ökonomik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gibt, weil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dezentrierte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Gesellschaften nicht einem Teilsystem allumfassende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Problemlösungskompetenz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zuschreiben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können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  <a:endParaRPr lang="de-DE" dirty="0"/>
          </a:p>
          <a:p>
            <a:r>
              <a:rPr lang="de-DE" dirty="0"/>
              <a:t>Zu</a:t>
            </a:r>
            <a:r>
              <a:rPr lang="de-DE" baseline="0" dirty="0"/>
              <a:t> 2. </a:t>
            </a:r>
            <a:r>
              <a:rPr lang="de-DE" baseline="0" dirty="0" err="1"/>
              <a:t>wieland</a:t>
            </a:r>
            <a:r>
              <a:rPr lang="de-DE" baseline="0" dirty="0"/>
              <a:t> wird hier als </a:t>
            </a:r>
            <a:r>
              <a:rPr lang="de-DE" baseline="0" dirty="0" err="1"/>
              <a:t>pragmatiker</a:t>
            </a:r>
            <a:r>
              <a:rPr lang="de-DE" baseline="0" dirty="0"/>
              <a:t> eingestuft wie Rorty (</a:t>
            </a:r>
            <a:r>
              <a:rPr lang="de-DE" baseline="0" dirty="0" err="1"/>
              <a:t>us</a:t>
            </a:r>
            <a:r>
              <a:rPr lang="de-DE" baseline="0" dirty="0"/>
              <a:t>. Philosoph)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FAAE1-EC42-AE48-8735-2C8F3DB6F93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488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Allgmein</a:t>
            </a:r>
            <a:r>
              <a:rPr lang="de-DE" dirty="0"/>
              <a:t>: „kann sich immer nur um demokratisch eingebettete </a:t>
            </a:r>
            <a:r>
              <a:rPr lang="de-DE" dirty="0" err="1"/>
              <a:t>governance</a:t>
            </a:r>
            <a:r>
              <a:rPr lang="de-DE" dirty="0"/>
              <a:t> </a:t>
            </a:r>
            <a:r>
              <a:rPr lang="de-DE" dirty="0" err="1"/>
              <a:t>handel</a:t>
            </a:r>
            <a:r>
              <a:rPr lang="de-DE" dirty="0"/>
              <a:t>“</a:t>
            </a:r>
          </a:p>
          <a:p>
            <a:r>
              <a:rPr lang="de-DE" dirty="0"/>
              <a:t>Zu 3. nicht</a:t>
            </a:r>
            <a:r>
              <a:rPr lang="de-DE" baseline="0" dirty="0"/>
              <a:t> andere </a:t>
            </a:r>
            <a:r>
              <a:rPr lang="de-DE" baseline="0" dirty="0" err="1"/>
              <a:t>z.B</a:t>
            </a:r>
            <a:r>
              <a:rPr lang="de-DE" baseline="0" dirty="0"/>
              <a:t> totalitäre </a:t>
            </a:r>
            <a:r>
              <a:rPr lang="de-DE" baseline="0" dirty="0" err="1"/>
              <a:t>systeme</a:t>
            </a:r>
            <a:r>
              <a:rPr lang="de-DE" baseline="0" dirty="0"/>
              <a:t>, </a:t>
            </a:r>
            <a:r>
              <a:rPr lang="de-DE" baseline="0" dirty="0" err="1"/>
              <a:t>governance</a:t>
            </a:r>
            <a:r>
              <a:rPr lang="de-DE" baseline="0" dirty="0"/>
              <a:t> also stets demokratisch eingebettet</a:t>
            </a:r>
          </a:p>
          <a:p>
            <a:r>
              <a:rPr lang="de-DE" dirty="0"/>
              <a:t>Zu 3. </a:t>
            </a:r>
            <a:r>
              <a:rPr lang="de-DE" dirty="0" err="1"/>
              <a:t>demorkatie</a:t>
            </a:r>
            <a:r>
              <a:rPr lang="de-DE" baseline="0" dirty="0"/>
              <a:t> ist mehr als Diskurs und </a:t>
            </a:r>
            <a:r>
              <a:rPr lang="de-DE" baseline="0" dirty="0" err="1"/>
              <a:t>deliberative</a:t>
            </a:r>
            <a:r>
              <a:rPr lang="de-DE" baseline="0" dirty="0"/>
              <a:t> </a:t>
            </a:r>
            <a:r>
              <a:rPr lang="de-DE" baseline="0" dirty="0" err="1"/>
              <a:t>willensbildung</a:t>
            </a:r>
            <a:endParaRPr lang="de-DE" baseline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FAAE1-EC42-AE48-8735-2C8F3DB6F93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019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Offene</a:t>
            </a:r>
            <a:r>
              <a:rPr lang="de-DE" baseline="0" dirty="0"/>
              <a:t> </a:t>
            </a:r>
            <a:r>
              <a:rPr lang="de-DE" baseline="0" dirty="0" err="1"/>
              <a:t>diskurse</a:t>
            </a:r>
            <a:r>
              <a:rPr lang="de-DE" baseline="0" dirty="0"/>
              <a:t> vs. </a:t>
            </a:r>
            <a:r>
              <a:rPr lang="de-DE" baseline="0" dirty="0" err="1"/>
              <a:t>Backdoor</a:t>
            </a:r>
            <a:r>
              <a:rPr lang="de-DE" baseline="0" dirty="0"/>
              <a:t> </a:t>
            </a:r>
            <a:r>
              <a:rPr lang="de-DE" baseline="0"/>
              <a:t>lobbying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FAAE1-EC42-AE48-8735-2C8F3DB6F932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912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8348" y="1371600"/>
            <a:ext cx="8147304" cy="1344168"/>
          </a:xfrm>
        </p:spPr>
        <p:txBody>
          <a:bodyPr vert="horz" lIns="91440" tIns="45720" rIns="91440" bIns="45720" rtlCol="0" anchor="b" anchorCtr="0">
            <a:normAutofit/>
            <a:scene3d>
              <a:camera prst="orthographicFront"/>
              <a:lightRig rig="threePt" dir="t">
                <a:rot lat="0" lon="0" rev="10800000"/>
              </a:lightRig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 algn="ctr" defTabSz="914400" rtl="0" eaLnBrk="1" latinLnBrk="0" hangingPunct="1">
              <a:lnSpc>
                <a:spcPts val="64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effectLst>
                  <a:outerShdw blurRad="25400" dist="19050" dir="4200000" algn="ctr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8348" y="2715767"/>
            <a:ext cx="8147304" cy="667512"/>
          </a:xfrm>
        </p:spPr>
        <p:txBody>
          <a:bodyPr vert="horz" lIns="91440" tIns="45720" rIns="91440" bIns="45720" rtlCol="0">
            <a:normAutofit/>
            <a:scene3d>
              <a:camera prst="orthographicFront"/>
              <a:lightRig rig="threePt" dir="t"/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 marL="0" indent="0" algn="ctr" defTabSz="914400" rtl="0" eaLnBrk="1" latinLnBrk="0" hangingPunct="1">
              <a:spcBef>
                <a:spcPts val="0"/>
              </a:spcBef>
              <a:buClr>
                <a:schemeClr val="tx1">
                  <a:lumMod val="75000"/>
                  <a:lumOff val="25000"/>
                </a:schemeClr>
              </a:buClr>
              <a:buSzPct val="75000"/>
              <a:buFont typeface="Wingdings 2" pitchFamily="18" charset="2"/>
              <a:buNone/>
              <a:defRPr sz="2200" b="0" kern="1200" baseline="0">
                <a:solidFill>
                  <a:schemeClr val="bg1"/>
                </a:solidFill>
                <a:effectLst>
                  <a:outerShdw blurRad="25400" dist="254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fld id="{F63D5D59-03C2-2041-A2FE-D49212D1BBF1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0B42-046C-E743-8A37-25D38C391068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 mit Bild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8475" y="4343398"/>
            <a:ext cx="8147049" cy="1346013"/>
          </a:xfrm>
        </p:spPr>
        <p:txBody>
          <a:bodyPr>
            <a:normAutofit/>
            <a:scene3d>
              <a:camera prst="orthographicFront"/>
              <a:lightRig rig="threePt" dir="t">
                <a:rot lat="0" lon="0" rev="10800000"/>
              </a:lightRig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>
              <a:lnSpc>
                <a:spcPts val="6400"/>
              </a:lnSpc>
              <a:defRPr sz="6000">
                <a:solidFill>
                  <a:schemeClr val="bg1"/>
                </a:solidFill>
                <a:effectLst>
                  <a:outerShdw blurRad="25400" dist="1905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8475" y="5688105"/>
            <a:ext cx="8147050" cy="663387"/>
          </a:xfrm>
        </p:spPr>
        <p:txBody>
          <a:bodyPr>
            <a:scene3d>
              <a:camera prst="orthographicFront"/>
              <a:lightRig rig="threePt" dir="t"/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 marL="0" indent="0" algn="ctr">
              <a:spcBef>
                <a:spcPts val="0"/>
              </a:spcBef>
              <a:buNone/>
              <a:defRPr b="0" baseline="0">
                <a:solidFill>
                  <a:schemeClr val="bg1"/>
                </a:solidFill>
                <a:effectLst>
                  <a:outerShdw blurRad="25400" dist="2540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fld id="{2591539D-6E04-2547-AE1A-F5EB9F712169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981200" y="685800"/>
            <a:ext cx="5181600" cy="3352800"/>
          </a:xfrm>
          <a:solidFill>
            <a:schemeClr val="tx1">
              <a:lumMod val="75000"/>
            </a:schemeClr>
          </a:solidFill>
          <a:ln w="127000" cap="sq">
            <a:solidFill>
              <a:schemeClr val="tx1"/>
            </a:solidFill>
            <a:miter lim="800000"/>
          </a:ln>
          <a:effectLst>
            <a:outerShdw blurRad="63500" sx="101000" sy="101000" algn="ctr" rotWithShape="0">
              <a:schemeClr val="bg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9000000"/>
            </a:lightRig>
          </a:scene3d>
          <a:sp3d prstMaterial="matte">
            <a:bevelT w="12700" prst="relaxedInset"/>
            <a:bevelB w="38100" h="127000" prst="relaxedInset"/>
            <a:extrusionClr>
              <a:schemeClr val="tx1"/>
            </a:extrusionClr>
            <a:contourClr>
              <a:schemeClr val="tx1"/>
            </a:contourClr>
          </a:sp3d>
        </p:spPr>
        <p:txBody>
          <a:bodyPr/>
          <a:lstStyle>
            <a:lvl1pPr>
              <a:buNone/>
              <a:defRPr/>
            </a:lvl1pPr>
          </a:lstStyle>
          <a:p>
            <a:r>
              <a:rPr lang="de-DE"/>
              <a:t>Bild auf Platzhalter ziehen oder durch Klicken auf Symbol hinzufügen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5" y="1774826"/>
            <a:ext cx="8147050" cy="1873250"/>
          </a:xfrm>
        </p:spPr>
        <p:txBody>
          <a:bodyPr anchor="b" anchorCtr="0"/>
          <a:lstStyle>
            <a:lvl1pPr algn="ctr">
              <a:defRPr sz="6000" b="0" cap="none" baseline="0"/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5" y="3654519"/>
            <a:ext cx="8147050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242DC-7A35-334A-BD8B-C6ADECCB8BDB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5" y="94129"/>
            <a:ext cx="8147051" cy="1452283"/>
          </a:xfrm>
        </p:spPr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475" y="1762125"/>
            <a:ext cx="3840480" cy="43640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5046" y="1762125"/>
            <a:ext cx="3840480" cy="43640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290763" indent="-461963"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811D1-AABD-774E-A9DB-A3B6E744588E}" type="datetime1">
              <a:rPr lang="de-DE" smtClean="0"/>
              <a:t>23.09.2026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5" y="94129"/>
            <a:ext cx="8147051" cy="145228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5" y="1550894"/>
            <a:ext cx="3840480" cy="715962"/>
          </a:xfrm>
        </p:spPr>
        <p:txBody>
          <a:bodyPr anchor="b"/>
          <a:lstStyle>
            <a:lvl1pPr marL="0" indent="0" algn="ctr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75" y="2541494"/>
            <a:ext cx="3840480" cy="35846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5046" y="1550894"/>
            <a:ext cx="3840480" cy="715962"/>
          </a:xfrm>
        </p:spPr>
        <p:txBody>
          <a:bodyPr anchor="b"/>
          <a:lstStyle>
            <a:lvl1pPr marL="0" indent="0" algn="ctr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5046" y="2541494"/>
            <a:ext cx="3840480" cy="35846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600"/>
            </a:lvl6pPr>
            <a:lvl7pPr marL="2290763" indent="-461963">
              <a:defRPr sz="1600"/>
            </a:lvl7pPr>
            <a:lvl8pPr marL="2290763" indent="-461963">
              <a:defRPr sz="1600"/>
            </a:lvl8pPr>
            <a:lvl9pPr marL="2290763" indent="-461963"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5A91B-5FB4-0E4D-8CF6-41EFAEBFE387}" type="datetime1">
              <a:rPr lang="de-DE" smtClean="0"/>
              <a:t>23.09.2026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11" name="Straight Connector 10"/>
          <p:cNvCxnSpPr/>
          <p:nvPr/>
        </p:nvCxnSpPr>
        <p:spPr>
          <a:xfrm>
            <a:off x="502920" y="2353235"/>
            <a:ext cx="3840480" cy="1588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805045" y="2353235"/>
            <a:ext cx="3840480" cy="1588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2126F-98BB-EA41-BD28-769495A5278F}" type="datetime1">
              <a:rPr lang="de-DE" smtClean="0"/>
              <a:t>23.09.2026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173B5-8177-7F4A-ADA5-431A1B28698B}" type="datetime1">
              <a:rPr lang="de-DE" smtClean="0"/>
              <a:t>23.09.2026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40" y="416859"/>
            <a:ext cx="3840480" cy="1994647"/>
          </a:xfrm>
        </p:spPr>
        <p:txBody>
          <a:bodyPr anchor="b"/>
          <a:lstStyle>
            <a:lvl1pPr algn="ctr">
              <a:defRPr sz="4400" b="0"/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2532" y="403412"/>
            <a:ext cx="3840480" cy="57227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7540" y="2438400"/>
            <a:ext cx="3840480" cy="331694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329E7-7A05-894D-A33F-9154476DED5F}" type="datetime1">
              <a:rPr lang="de-DE" smtClean="0"/>
              <a:t>23.09.2026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540" y="416859"/>
            <a:ext cx="3840480" cy="1994647"/>
          </a:xfrm>
        </p:spPr>
        <p:txBody>
          <a:bodyPr anchor="b"/>
          <a:lstStyle>
            <a:lvl1pPr algn="ctr">
              <a:defRPr sz="4400" b="0"/>
            </a:lvl1pPr>
          </a:lstStyle>
          <a:p>
            <a:r>
              <a:rPr lang="de-DE"/>
              <a:t>Mastertitelformat bearbeiten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7540" y="2438400"/>
            <a:ext cx="3840480" cy="331694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40053-DFB5-3F44-B5A9-62487D069E00}" type="datetime1">
              <a:rPr lang="de-DE" smtClean="0"/>
              <a:t>23.09.2026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4805045" y="430306"/>
            <a:ext cx="3840480" cy="5432612"/>
          </a:xfrm>
          <a:solidFill>
            <a:schemeClr val="bg1">
              <a:lumMod val="85000"/>
            </a:schemeClr>
          </a:solidFill>
          <a:ln w="127000" cap="sq">
            <a:solidFill>
              <a:schemeClr val="bg1"/>
            </a:solidFill>
            <a:miter lim="800000"/>
          </a:ln>
          <a:effectLst>
            <a:outerShdw blurRad="76200" dist="12700" dir="5400000" sx="100500" sy="100500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extrusionH="50800">
            <a:extrusionClr>
              <a:schemeClr val="tx1"/>
            </a:extrusionClr>
            <a:contourClr>
              <a:schemeClr val="tx1"/>
            </a:contourClr>
          </a:sp3d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spcBef>
                <a:spcPts val="2000"/>
              </a:spcBef>
              <a:buClr>
                <a:schemeClr val="accent2">
                  <a:lumMod val="50000"/>
                  <a:lumOff val="50000"/>
                </a:schemeClr>
              </a:buClr>
              <a:buSzPct val="75000"/>
              <a:buFont typeface="Wingdings 2" pitchFamily="18" charset="2"/>
              <a:buNone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auf Platzhalter ziehen oder durch Klicken auf Symbol hinzufügen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7pPr marL="2743200" indent="-457200">
              <a:defRPr/>
            </a:lvl7pPr>
            <a:lvl8pPr marL="2743200" indent="-457200">
              <a:defRPr/>
            </a:lvl8pPr>
            <a:lvl9pPr marL="2743200" indent="-457200">
              <a:defRPr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F738-D043-4246-B6DD-38DBBA064223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61412" y="417513"/>
            <a:ext cx="1600200" cy="570865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1174" y="417513"/>
            <a:ext cx="6499225" cy="570865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9B87-EC1C-6946-9F2F-0D03A79E63A5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ußformel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fld id="{117FF4B2-A519-714E-AA1E-9988B6963A38}" type="datetime1">
              <a:rPr lang="de-DE" smtClean="0"/>
              <a:t>23.09.2026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100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kern="1200">
                <a:solidFill>
                  <a:schemeClr val="bg1">
                    <a:lumMod val="75000"/>
                    <a:lumOff val="25000"/>
                  </a:schemeClr>
                </a:solidFill>
                <a:effectLst>
                  <a:outerShdw blurRad="25400" dist="127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5" y="94129"/>
            <a:ext cx="8147051" cy="145228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de-DE"/>
              <a:t>Mastertitelformat bearbeiten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5" y="1761565"/>
            <a:ext cx="8147051" cy="4364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259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7E5939A-76E3-B94C-BD0D-BA2CAE954393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17659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0598BC-903C-47CB-9DD0-87ED0DADECCD}" type="slidenum">
              <a:rPr lang="de-DE" smtClean="0"/>
              <a:pPr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2000"/>
        </a:spcBef>
        <a:buClr>
          <a:schemeClr val="tx1">
            <a:lumMod val="75000"/>
            <a:lumOff val="25000"/>
          </a:schemeClr>
        </a:buClr>
        <a:buSzPct val="75000"/>
        <a:buFont typeface="Wingdings 2" pitchFamily="18" charset="2"/>
        <a:buChar char="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50000"/>
            <a:lumOff val="50000"/>
          </a:schemeClr>
        </a:buClr>
        <a:buSzPct val="75000"/>
        <a:buFont typeface="Wingdings 2" pitchFamily="18" charset="2"/>
        <a:buChar char="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75000"/>
        <a:buFont typeface="Wingdings 2" pitchFamily="18" charset="2"/>
        <a:buChar char="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828800" indent="-457200" algn="l" defTabSz="914400" rtl="0" eaLnBrk="1" latinLnBrk="0" hangingPunct="1">
        <a:spcBef>
          <a:spcPts val="600"/>
        </a:spcBef>
        <a:buClr>
          <a:schemeClr val="tx1">
            <a:lumMod val="50000"/>
            <a:lumOff val="50000"/>
          </a:schemeClr>
        </a:buClr>
        <a:buSzPct val="75000"/>
        <a:buFont typeface="Wingdings 2" pitchFamily="18" charset="2"/>
        <a:buChar char="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2860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75000"/>
        <a:buFont typeface="Wingdings 2" pitchFamily="18" charset="2"/>
        <a:buChar char="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743200" indent="-461963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SzPct val="75000"/>
        <a:buFont typeface="Wingdings 2" pitchFamily="18" charset="2"/>
        <a:buChar char="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05163" indent="-461963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SzPct val="75000"/>
        <a:buFont typeface="Wingdings 2" pitchFamily="18" charset="2"/>
        <a:buChar char="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657600" indent="-461963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SzPct val="75000"/>
        <a:buFont typeface="Wingdings 2" pitchFamily="18" charset="2"/>
        <a:buChar char="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119563" indent="-461963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SzPct val="75000"/>
        <a:buFont typeface="Wingdings 2" pitchFamily="18" charset="2"/>
        <a:buChar char="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Governanceethik</a:t>
            </a:r>
            <a:r>
              <a:rPr lang="de-DE" dirty="0"/>
              <a:t> als Diskursethik?</a:t>
            </a: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611560" y="3429000"/>
            <a:ext cx="8147304" cy="667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  <a:scene3d>
              <a:camera prst="orthographicFront"/>
              <a:lightRig rig="threePt" dir="t"/>
            </a:scene3d>
            <a:sp3d extrusionH="57150">
              <a:bevelT w="38100" h="38100" prst="relaxedInset"/>
              <a:bevelB w="38100" h="38100" prst="relaxedInset"/>
            </a:sp3d>
          </a:bodyPr>
          <a:lstStyle>
            <a:lvl1pPr marL="0" indent="0" algn="ctr" defTabSz="914400" rtl="0" eaLnBrk="1" latinLnBrk="0" hangingPunct="1">
              <a:spcBef>
                <a:spcPts val="0"/>
              </a:spcBef>
              <a:buClr>
                <a:schemeClr val="tx1">
                  <a:lumMod val="75000"/>
                  <a:lumOff val="25000"/>
                </a:schemeClr>
              </a:buClr>
              <a:buSzPct val="75000"/>
              <a:buFont typeface="Wingdings 2" pitchFamily="18" charset="2"/>
              <a:buNone/>
              <a:defRPr sz="2200" b="0" kern="1200" baseline="0">
                <a:solidFill>
                  <a:schemeClr val="bg1"/>
                </a:solidFill>
                <a:effectLst>
                  <a:outerShdw blurRad="25400" dist="25400" dir="42000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50000"/>
                  <a:lumOff val="50000"/>
                </a:schemeClr>
              </a:buClr>
              <a:buSzPct val="75000"/>
              <a:buFont typeface="Wingdings 2" pitchFamily="18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75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50000"/>
                  <a:lumOff val="50000"/>
                </a:schemeClr>
              </a:buClr>
              <a:buSzPct val="75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75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SzPct val="75000"/>
              <a:buFont typeface="Wingdings 2" pitchFamily="18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SzPct val="75000"/>
              <a:buFont typeface="Wingdings 2" pitchFamily="18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SzPct val="75000"/>
              <a:buFont typeface="Wingdings 2" pitchFamily="18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SzPct val="75000"/>
              <a:buFont typeface="Wingdings 2" pitchFamily="18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Yaniv Ginati &amp; Mikhail Pugachevskiy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Überblick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dirty="0"/>
              <a:t>1. Politisches Fundament der Unternehmensethik</a:t>
            </a:r>
          </a:p>
          <a:p>
            <a:pPr marL="0" indent="0">
              <a:buNone/>
            </a:pPr>
            <a:r>
              <a:rPr lang="de-DE" sz="2400" dirty="0"/>
              <a:t>2. Die postnationale Konstellation</a:t>
            </a:r>
          </a:p>
          <a:p>
            <a:pPr marL="514350" indent="-514350">
              <a:buNone/>
            </a:pPr>
            <a:r>
              <a:rPr lang="de-DE" sz="2400" dirty="0"/>
              <a:t>3. Politisierung der Unternehmung</a:t>
            </a:r>
          </a:p>
          <a:p>
            <a:pPr marL="514350" indent="-514350">
              <a:buNone/>
            </a:pPr>
            <a:r>
              <a:rPr lang="de-DE" sz="2400" dirty="0"/>
              <a:t>4. These Palazzo</a:t>
            </a:r>
          </a:p>
          <a:p>
            <a:pPr marL="514350" indent="-514350">
              <a:buNone/>
            </a:pPr>
            <a:r>
              <a:rPr lang="de-DE" sz="2400" dirty="0"/>
              <a:t>5. Theorie </a:t>
            </a:r>
            <a:r>
              <a:rPr lang="de-DE" sz="2400" dirty="0" err="1"/>
              <a:t>deliberativer</a:t>
            </a:r>
            <a:r>
              <a:rPr lang="de-DE" sz="2400" dirty="0"/>
              <a:t> Demokratie</a:t>
            </a:r>
          </a:p>
          <a:p>
            <a:pPr marL="514350" indent="-514350">
              <a:buNone/>
            </a:pPr>
            <a:r>
              <a:rPr lang="de-DE" sz="2400" dirty="0"/>
              <a:t>6. </a:t>
            </a:r>
            <a:r>
              <a:rPr lang="de-DE" sz="2400" dirty="0" err="1"/>
              <a:t>Governanceethik</a:t>
            </a:r>
            <a:r>
              <a:rPr lang="de-DE" sz="2400" dirty="0"/>
              <a:t> als politische Ethik</a:t>
            </a:r>
          </a:p>
          <a:p>
            <a:pPr marL="514350" indent="-514350">
              <a:buNone/>
            </a:pPr>
            <a:r>
              <a:rPr lang="de-DE" sz="2400" dirty="0"/>
              <a:t>7. Diskursive Elemente der </a:t>
            </a:r>
            <a:r>
              <a:rPr lang="de-DE" sz="2400" dirty="0" err="1"/>
              <a:t>Governanceethik</a:t>
            </a:r>
            <a:endParaRPr lang="de-DE" sz="2400" dirty="0"/>
          </a:p>
          <a:p>
            <a:pPr marL="514350" indent="-514350">
              <a:buNone/>
            </a:pPr>
            <a:endParaRPr lang="de-DE" sz="2400" dirty="0"/>
          </a:p>
          <a:p>
            <a:endParaRPr lang="de-DE" sz="3200" dirty="0"/>
          </a:p>
          <a:p>
            <a:pPr marL="514350" indent="-514350">
              <a:buNone/>
            </a:pPr>
            <a:endParaRPr lang="de-DE" sz="3200" dirty="0"/>
          </a:p>
          <a:p>
            <a:pPr marL="514350" indent="-514350">
              <a:buNone/>
            </a:pPr>
            <a:endParaRPr lang="de-DE" sz="3000" dirty="0"/>
          </a:p>
          <a:p>
            <a:pPr marL="514350" indent="-514350">
              <a:buNone/>
            </a:pPr>
            <a:endParaRPr lang="de-DE" sz="2500" dirty="0"/>
          </a:p>
          <a:p>
            <a:pPr marL="514350" indent="-514350">
              <a:buNone/>
            </a:pPr>
            <a:endParaRPr lang="de-DE" sz="2400" dirty="0"/>
          </a:p>
          <a:p>
            <a:pPr marL="514350" indent="-514350">
              <a:buNone/>
            </a:pPr>
            <a:endParaRPr lang="de-DE" sz="24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A471E-206F-7E4C-A92D-8F44055F6F43}" type="datetime1">
              <a:rPr lang="de-DE" smtClean="0"/>
              <a:t>23.09.2026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2</a:t>
            </a:fld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Überblick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None/>
            </a:pPr>
            <a:r>
              <a:rPr lang="de-DE" sz="2400" dirty="0"/>
              <a:t>8. Fazit &amp; Ausblick</a:t>
            </a:r>
          </a:p>
          <a:p>
            <a:pPr marL="514350" indent="-514350">
              <a:buNone/>
            </a:pPr>
            <a:r>
              <a:rPr lang="de-DE" sz="2400" dirty="0"/>
              <a:t>9. Kritische Würdigung</a:t>
            </a:r>
          </a:p>
          <a:p>
            <a:pPr marL="514350" indent="-514350">
              <a:buNone/>
            </a:pPr>
            <a:r>
              <a:rPr lang="de-DE" sz="2400" dirty="0"/>
              <a:t>10. Diskussion</a:t>
            </a:r>
            <a:endParaRPr lang="de-DE" sz="20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A5519-675F-124A-B2D4-AAB01BA3383E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4951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None/>
            </a:pPr>
            <a:r>
              <a:rPr lang="de-DE" sz="2400" dirty="0"/>
              <a:t>7. Diskursiver Elemente der </a:t>
            </a:r>
            <a:r>
              <a:rPr lang="de-DE" sz="2400" dirty="0" err="1"/>
              <a:t>Governanceethik</a:t>
            </a:r>
            <a:endParaRPr lang="de-DE" sz="2400" dirty="0"/>
          </a:p>
          <a:p>
            <a:pPr marL="514350" indent="-514350">
              <a:buNone/>
            </a:pPr>
            <a:r>
              <a:rPr lang="de-DE" sz="2400" dirty="0"/>
              <a:t>8. Fazit &amp; Ausblick</a:t>
            </a:r>
          </a:p>
          <a:p>
            <a:pPr marL="514350" indent="-514350">
              <a:buNone/>
            </a:pPr>
            <a:r>
              <a:rPr lang="de-DE" sz="2400" dirty="0"/>
              <a:t>9. Kritische Würdigung</a:t>
            </a:r>
          </a:p>
          <a:p>
            <a:pPr marL="514350" indent="-514350">
              <a:buNone/>
            </a:pPr>
            <a:r>
              <a:rPr lang="de-DE" sz="2400" dirty="0"/>
              <a:t>10. Diskussion</a:t>
            </a:r>
            <a:endParaRPr lang="de-DE" sz="2000" dirty="0"/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0B42-046C-E743-8A37-25D38C391068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075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1. Politisches Fundament der Unternehmensethik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de-DE" sz="2500" b="1" dirty="0"/>
              <a:t>1.1 Liberales Geschäftskonzept</a:t>
            </a:r>
          </a:p>
          <a:p>
            <a:r>
              <a:rPr lang="de-DE" sz="2500" dirty="0"/>
              <a:t>Märkte sind die Verbildlichung der fundamentalen Demokratieverständnisse nach liberalem Denken</a:t>
            </a:r>
          </a:p>
          <a:p>
            <a:r>
              <a:rPr lang="de-DE" sz="2500" dirty="0"/>
              <a:t>Transaktion auf dem Markt ist eine freie Ausübung eines Bürgers</a:t>
            </a:r>
          </a:p>
          <a:p>
            <a:r>
              <a:rPr lang="de-DE" sz="2500" dirty="0"/>
              <a:t>Egoistisches Streben erschüttert Märkte </a:t>
            </a:r>
            <a:r>
              <a:rPr lang="de-DE" sz="2500" dirty="0">
                <a:sym typeface="Wingdings"/>
              </a:rPr>
              <a:t></a:t>
            </a:r>
            <a:r>
              <a:rPr lang="de-DE" sz="2500" dirty="0"/>
              <a:t> Gefährdung der Freiheit und Demokratie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AFD78-AE04-7946-AC1A-B338430E8269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5</a:t>
            </a:fld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285728"/>
            <a:ext cx="8229600" cy="4525963"/>
          </a:xfrm>
        </p:spPr>
        <p:txBody>
          <a:bodyPr>
            <a:noAutofit/>
          </a:bodyPr>
          <a:lstStyle/>
          <a:p>
            <a:r>
              <a:rPr lang="de-DE" sz="1900" dirty="0"/>
              <a:t>zwei gegensätzliche Pole:</a:t>
            </a:r>
          </a:p>
          <a:p>
            <a:r>
              <a:rPr lang="de-DE" sz="1900" dirty="0"/>
              <a:t>1) freier Bürger und seine wirtschaftlichen Handlungen</a:t>
            </a:r>
          </a:p>
          <a:p>
            <a:r>
              <a:rPr lang="de-DE" sz="1900" dirty="0"/>
              <a:t>Individuum ist weniger Staatsbürger, der etwas für die Gemeinschaft tut, sondern gehört mehr zur höheren Klasse (Bourgeois = Kapitalist) </a:t>
            </a:r>
          </a:p>
          <a:p>
            <a:r>
              <a:rPr lang="de-DE" sz="1900" dirty="0"/>
              <a:t>er hat sämtliche politische Tätigkeiten an passende Organe &amp; Institutionen abgegeben</a:t>
            </a:r>
          </a:p>
          <a:p>
            <a:r>
              <a:rPr lang="de-DE" sz="1900" dirty="0"/>
              <a:t>konzentriert sich mehr auf eigene Nutzenmaximierung (homo </a:t>
            </a:r>
            <a:r>
              <a:rPr lang="de-DE" sz="1900" dirty="0" err="1"/>
              <a:t>oeconomicus</a:t>
            </a:r>
            <a:r>
              <a:rPr lang="de-DE" sz="1900" dirty="0"/>
              <a:t>)</a:t>
            </a:r>
          </a:p>
          <a:p>
            <a:r>
              <a:rPr lang="de-DE" sz="1900" dirty="0"/>
              <a:t>2) Staat muss sich gegenüber Bürger legitimieren, da diese keine Legitimationsverpflichtungen haben </a:t>
            </a:r>
            <a:r>
              <a:rPr lang="de-DE" sz="1900" dirty="0">
                <a:sym typeface="Wingdings"/>
              </a:rPr>
              <a:t></a:t>
            </a:r>
            <a:r>
              <a:rPr lang="de-DE" sz="1900" dirty="0"/>
              <a:t> sie treffen für Gemeinschaften keine Entscheidungen</a:t>
            </a:r>
          </a:p>
          <a:p>
            <a:r>
              <a:rPr lang="de-DE" sz="1900" dirty="0"/>
              <a:t>Also: Unternehmen sind private Akteure, die eigene Entscheidungen nicht vor Öffentlichkeit und Politik rechtfertigen müssen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025D7-5365-8547-A517-1198357AB0FE}" type="datetime1">
              <a:rPr lang="de-DE" smtClean="0"/>
              <a:t>23.09.2026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1. Politisches Fundament der Unternehmensethik</a:t>
            </a:r>
          </a:p>
          <a:p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6</a:t>
            </a:fld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285728"/>
            <a:ext cx="8229600" cy="4525963"/>
          </a:xfrm>
        </p:spPr>
        <p:txBody>
          <a:bodyPr>
            <a:normAutofit/>
          </a:bodyPr>
          <a:lstStyle/>
          <a:p>
            <a:r>
              <a:rPr lang="de-DE" sz="2500" dirty="0"/>
              <a:t>Eigentlich: Staat schützt individuelles Eigentum vor Willkür der Politiker </a:t>
            </a:r>
            <a:r>
              <a:rPr lang="de-DE" sz="2500" dirty="0">
                <a:sym typeface="Wingdings"/>
              </a:rPr>
              <a:t></a:t>
            </a:r>
            <a:r>
              <a:rPr lang="de-DE" sz="2500" dirty="0"/>
              <a:t> Bürgerrecht</a:t>
            </a:r>
          </a:p>
          <a:p>
            <a:r>
              <a:rPr lang="de-DE" sz="2500" dirty="0"/>
              <a:t>Freiheit des privaten Besitzes und des Bürgers = Freiheit des Wirtschaftsbürgers</a:t>
            </a:r>
          </a:p>
          <a:p>
            <a:r>
              <a:rPr lang="de-DE" sz="2500" dirty="0"/>
              <a:t>Kurze Definition:</a:t>
            </a:r>
          </a:p>
          <a:p>
            <a:pPr>
              <a:buNone/>
            </a:pPr>
            <a:r>
              <a:rPr lang="de-DE" sz="2500" dirty="0"/>
              <a:t>     Liberalismus = Freiheit des Individuums gegenüber dem Staat unter der Einbeziehung einer Trennung von Privatem &amp; Öffentlichem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57BC-4DAA-0D4D-B9DE-8DFBF9FD33E2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1. Politisches Fundament der Unternehmensethik</a:t>
            </a:r>
          </a:p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7</a:t>
            </a:fld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285728"/>
            <a:ext cx="82296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de-DE" sz="1900" b="1" dirty="0"/>
              <a:t>1.3 Unternehmerische Legitimität</a:t>
            </a:r>
          </a:p>
          <a:p>
            <a:r>
              <a:rPr lang="de-DE" sz="1900" dirty="0"/>
              <a:t>Annahme 1: Markt schafft selber abgeleitete/automatisierte Legitimität</a:t>
            </a:r>
          </a:p>
          <a:p>
            <a:r>
              <a:rPr lang="de-DE" sz="1900" dirty="0"/>
              <a:t>Marktteilnehmer maximiert Eigennutz, gleichzeitig steigt Gemeinwohl der Gemeinschaft</a:t>
            </a:r>
          </a:p>
          <a:p>
            <a:r>
              <a:rPr lang="de-DE" sz="1900" dirty="0"/>
              <a:t>freie, unternehmerische Aktivitäten bzw. Handlungseffizienz fördern indirekt Wohlstandswirkung für Gemeinschaft z.B. Arbeitsplätze, Steuern</a:t>
            </a:r>
          </a:p>
          <a:p>
            <a:r>
              <a:rPr lang="de-DE" sz="1900" dirty="0"/>
              <a:t>Annahme 2: </a:t>
            </a:r>
            <a:r>
              <a:rPr lang="de-DE" sz="1900" dirty="0" err="1"/>
              <a:t>Licence</a:t>
            </a:r>
            <a:r>
              <a:rPr lang="de-DE" sz="1900" dirty="0"/>
              <a:t> </a:t>
            </a:r>
            <a:r>
              <a:rPr lang="de-DE" sz="1900" dirty="0" err="1"/>
              <a:t>to</a:t>
            </a:r>
            <a:r>
              <a:rPr lang="de-DE" sz="1900" dirty="0"/>
              <a:t> </a:t>
            </a:r>
            <a:r>
              <a:rPr lang="de-DE" sz="1900" dirty="0" err="1"/>
              <a:t>operate</a:t>
            </a:r>
            <a:r>
              <a:rPr lang="de-DE" sz="1900" dirty="0"/>
              <a:t>: Erlaubnis zur Tätigkeitsausführung kann von Gesellschaft gegeben und entzogen werden, wenn Unternehmen gegen juristische/moralische Regeln verstößt</a:t>
            </a:r>
          </a:p>
          <a:p>
            <a:r>
              <a:rPr lang="de-DE" sz="1900" dirty="0"/>
              <a:t>zur Vermeidung dieser Verstöße:</a:t>
            </a:r>
          </a:p>
          <a:p>
            <a:r>
              <a:rPr lang="de-DE" sz="1900" dirty="0"/>
              <a:t>1) nach Swanson: Betriebe harmonisieren ihre Aktivitäten mit „</a:t>
            </a:r>
            <a:r>
              <a:rPr lang="de-DE" sz="1900" dirty="0" err="1"/>
              <a:t>broader</a:t>
            </a:r>
            <a:r>
              <a:rPr lang="de-DE" sz="1900" dirty="0"/>
              <a:t> </a:t>
            </a:r>
            <a:r>
              <a:rPr lang="de-DE" sz="1900" dirty="0" err="1"/>
              <a:t>communitiy</a:t>
            </a:r>
            <a:r>
              <a:rPr lang="de-DE" sz="1900" dirty="0"/>
              <a:t> </a:t>
            </a:r>
            <a:r>
              <a:rPr lang="de-DE" sz="1900" dirty="0" err="1"/>
              <a:t>values</a:t>
            </a:r>
            <a:r>
              <a:rPr lang="de-DE" sz="1900" dirty="0"/>
              <a:t>“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45E9B-2B7B-DA4A-806D-A058C1715BAA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1. Politisches Fundament der Unternehmensethik</a:t>
            </a:r>
          </a:p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8</a:t>
            </a:fld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214290"/>
            <a:ext cx="8229600" cy="635798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de-DE" sz="1600" dirty="0"/>
          </a:p>
          <a:p>
            <a:r>
              <a:rPr lang="de-DE" sz="2700" dirty="0"/>
              <a:t>2</a:t>
            </a:r>
            <a:r>
              <a:rPr lang="de-DE" sz="2900" dirty="0"/>
              <a:t>) nach Carroll: unternehmerische Verantwortung entsteht aus gesellschaftlichen Erwartungen „</a:t>
            </a:r>
            <a:r>
              <a:rPr lang="de-DE" sz="2900" dirty="0" err="1"/>
              <a:t>at</a:t>
            </a:r>
            <a:r>
              <a:rPr lang="de-DE" sz="2900" dirty="0"/>
              <a:t> a </a:t>
            </a:r>
            <a:r>
              <a:rPr lang="de-DE" sz="2900" dirty="0" err="1"/>
              <a:t>given</a:t>
            </a:r>
            <a:r>
              <a:rPr lang="de-DE" sz="2900" dirty="0"/>
              <a:t> </a:t>
            </a:r>
            <a:r>
              <a:rPr lang="de-DE" sz="2900" dirty="0" err="1"/>
              <a:t>point</a:t>
            </a:r>
            <a:r>
              <a:rPr lang="de-DE" sz="2900" dirty="0"/>
              <a:t> in time“</a:t>
            </a:r>
          </a:p>
          <a:p>
            <a:r>
              <a:rPr lang="de-DE" sz="2900" dirty="0"/>
              <a:t>3) nach Friedman: Unternehmen sind verpflichtet „</a:t>
            </a:r>
            <a:r>
              <a:rPr lang="de-DE" sz="2900" dirty="0" err="1"/>
              <a:t>basic</a:t>
            </a:r>
            <a:r>
              <a:rPr lang="de-DE" sz="2900" dirty="0"/>
              <a:t> </a:t>
            </a:r>
            <a:r>
              <a:rPr lang="de-DE" sz="2900" dirty="0" err="1"/>
              <a:t>rules</a:t>
            </a:r>
            <a:r>
              <a:rPr lang="de-DE" sz="2900" dirty="0"/>
              <a:t> </a:t>
            </a:r>
            <a:r>
              <a:rPr lang="de-DE" sz="2900" dirty="0" err="1"/>
              <a:t>of</a:t>
            </a:r>
            <a:r>
              <a:rPr lang="de-DE" sz="2900" dirty="0"/>
              <a:t> </a:t>
            </a:r>
            <a:r>
              <a:rPr lang="de-DE" sz="2900" dirty="0" err="1"/>
              <a:t>society</a:t>
            </a:r>
            <a:r>
              <a:rPr lang="de-DE" sz="2900" dirty="0"/>
              <a:t>“ zu folgen</a:t>
            </a:r>
          </a:p>
          <a:p>
            <a:r>
              <a:rPr lang="de-DE" sz="2900" dirty="0"/>
              <a:t>4) nach </a:t>
            </a:r>
            <a:r>
              <a:rPr lang="de-DE" sz="2900" dirty="0" err="1"/>
              <a:t>Homan</a:t>
            </a:r>
            <a:r>
              <a:rPr lang="de-DE" sz="2900" dirty="0"/>
              <a:t> &amp; Blome-</a:t>
            </a:r>
            <a:r>
              <a:rPr lang="de-DE" sz="2900" dirty="0" err="1"/>
              <a:t>Drees</a:t>
            </a:r>
            <a:r>
              <a:rPr lang="de-DE" sz="2900" dirty="0"/>
              <a:t>: Handlungen der Unternehmen müssen auf Marktregeln eingehen</a:t>
            </a:r>
          </a:p>
          <a:p>
            <a:r>
              <a:rPr lang="de-DE" sz="2900" dirty="0"/>
              <a:t>5) nach Epstein &amp; </a:t>
            </a:r>
            <a:r>
              <a:rPr lang="de-DE" sz="2900" dirty="0" err="1"/>
              <a:t>Votwas</a:t>
            </a:r>
            <a:r>
              <a:rPr lang="de-DE" sz="2900" dirty="0"/>
              <a:t>: Präsenz einer Handlungskonsistenz „</a:t>
            </a:r>
            <a:r>
              <a:rPr lang="de-DE" sz="2900" dirty="0" err="1"/>
              <a:t>with</a:t>
            </a:r>
            <a:r>
              <a:rPr lang="de-DE" sz="2900" dirty="0"/>
              <a:t> </a:t>
            </a:r>
            <a:r>
              <a:rPr lang="de-DE" sz="2900" dirty="0" err="1"/>
              <a:t>the</a:t>
            </a:r>
            <a:r>
              <a:rPr lang="de-DE" sz="2900" dirty="0"/>
              <a:t> </a:t>
            </a:r>
            <a:r>
              <a:rPr lang="de-DE" sz="2900" dirty="0" err="1"/>
              <a:t>moral</a:t>
            </a:r>
            <a:r>
              <a:rPr lang="de-DE" sz="2900" dirty="0"/>
              <a:t> </a:t>
            </a:r>
            <a:r>
              <a:rPr lang="de-DE" sz="2900" dirty="0" err="1"/>
              <a:t>foundations</a:t>
            </a:r>
            <a:r>
              <a:rPr lang="de-DE" sz="2900" dirty="0"/>
              <a:t> </a:t>
            </a:r>
            <a:r>
              <a:rPr lang="de-DE" sz="2900" dirty="0" err="1"/>
              <a:t>of</a:t>
            </a:r>
            <a:r>
              <a:rPr lang="de-DE" sz="2900" dirty="0"/>
              <a:t> </a:t>
            </a:r>
            <a:r>
              <a:rPr lang="de-DE" sz="2900" dirty="0" err="1"/>
              <a:t>that</a:t>
            </a:r>
            <a:r>
              <a:rPr lang="de-DE" sz="2900" dirty="0"/>
              <a:t> </a:t>
            </a:r>
            <a:r>
              <a:rPr lang="de-DE" sz="2900" dirty="0" err="1"/>
              <a:t>society</a:t>
            </a:r>
            <a:r>
              <a:rPr lang="de-DE" sz="2900" dirty="0"/>
              <a:t>“ </a:t>
            </a:r>
          </a:p>
          <a:p>
            <a:r>
              <a:rPr lang="de-DE" sz="2900" dirty="0"/>
              <a:t>CSR-Theorie basiert auf gesellschaftlicher Demokratieordnung </a:t>
            </a:r>
          </a:p>
          <a:p>
            <a:r>
              <a:rPr lang="de-DE" sz="2900" dirty="0"/>
              <a:t>wirtschaftliche Vorteile ergeben sich aus erweiterter Unternehmensverantwortung in Form durch Investitionen in CSR </a:t>
            </a:r>
            <a:r>
              <a:rPr lang="de-DE" sz="2900" dirty="0">
                <a:sym typeface="Wingdings"/>
              </a:rPr>
              <a:t></a:t>
            </a:r>
            <a:r>
              <a:rPr lang="de-DE" sz="2900" dirty="0"/>
              <a:t> Sinn des CSR</a:t>
            </a:r>
          </a:p>
          <a:p>
            <a:r>
              <a:rPr lang="de-DE" sz="2900" dirty="0"/>
              <a:t>z.B. Bekämpfung der Korruption in eigenem Unternehmen </a:t>
            </a:r>
          </a:p>
          <a:p>
            <a:pPr>
              <a:buNone/>
            </a:pPr>
            <a:r>
              <a:rPr lang="de-DE" sz="2900" dirty="0"/>
              <a:t>     </a:t>
            </a:r>
            <a:r>
              <a:rPr lang="de-DE" sz="2900" dirty="0">
                <a:sym typeface="Wingdings"/>
              </a:rPr>
              <a:t> </a:t>
            </a:r>
            <a:r>
              <a:rPr lang="de-DE" sz="2900" dirty="0"/>
              <a:t>positiver finanzieller Effekt auf Firmenwert</a:t>
            </a:r>
          </a:p>
          <a:p>
            <a:endParaRPr lang="de-DE" sz="25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0165-62DB-7844-A28D-667BDF997C96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1. Politisches Fundament der Unternehmensethik</a:t>
            </a:r>
          </a:p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9</a:t>
            </a:fld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Die postnationale Konstellation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de-DE" b="1" dirty="0"/>
              <a:t>2.1 Die erweiterte liberale Theorie: </a:t>
            </a:r>
          </a:p>
          <a:p>
            <a:r>
              <a:rPr lang="de-DE" dirty="0"/>
              <a:t>a) freie Bewegungen von Marktkräften im Rahmen von Gesetzen/Regeln </a:t>
            </a:r>
          </a:p>
          <a:p>
            <a:r>
              <a:rPr lang="de-DE" dirty="0"/>
              <a:t>b) Übertragung von politischen Aufgaben an speziell ausgestattete Akteure</a:t>
            </a:r>
          </a:p>
          <a:p>
            <a:r>
              <a:rPr lang="de-DE" dirty="0"/>
              <a:t>Konzeption einer Demokratieordnung</a:t>
            </a:r>
          </a:p>
          <a:p>
            <a:r>
              <a:rPr lang="de-DE" dirty="0"/>
              <a:t>dafür muss eine nationalstaatliche Organisation in der gesamten Welt vorhanden sein</a:t>
            </a:r>
          </a:p>
          <a:p>
            <a:r>
              <a:rPr lang="de-DE" dirty="0"/>
              <a:t>Konkret: rechtliche (</a:t>
            </a:r>
            <a:r>
              <a:rPr lang="de-DE" dirty="0" err="1"/>
              <a:t>hard</a:t>
            </a:r>
            <a:r>
              <a:rPr lang="de-DE" dirty="0"/>
              <a:t> </a:t>
            </a:r>
            <a:r>
              <a:rPr lang="de-DE" dirty="0" err="1"/>
              <a:t>law</a:t>
            </a:r>
            <a:r>
              <a:rPr lang="de-DE" dirty="0"/>
              <a:t>) und moralische Rahmenordnung (soft </a:t>
            </a:r>
            <a:r>
              <a:rPr lang="de-DE" dirty="0" err="1"/>
              <a:t>law</a:t>
            </a:r>
            <a:r>
              <a:rPr lang="de-DE" dirty="0"/>
              <a:t>)</a:t>
            </a:r>
          </a:p>
          <a:p>
            <a:r>
              <a:rPr lang="de-DE" dirty="0"/>
              <a:t>deren Einhaltung bewertet unternehmerische Legitimität</a:t>
            </a:r>
          </a:p>
          <a:p>
            <a:r>
              <a:rPr lang="de-DE" dirty="0"/>
              <a:t>Regulative Kraft des Nationalstaates und einheitlicher gemeinschaftlicher Wertevorstellungen erodieren durch Globalisierung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91DD2-B079-C641-A3B8-157604CD7AB8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10</a:t>
            </a:fld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285728"/>
            <a:ext cx="8229600" cy="607223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de-DE" sz="7200" b="1" dirty="0"/>
              <a:t>2.2 Globalisierung</a:t>
            </a:r>
          </a:p>
          <a:p>
            <a:r>
              <a:rPr lang="de-DE" sz="7200" dirty="0"/>
              <a:t>Globalisierung erschwert Konzept aufgrund unterschiedlicher Wertvorstellungen</a:t>
            </a:r>
          </a:p>
          <a:p>
            <a:r>
              <a:rPr lang="de-DE" sz="7200" dirty="0">
                <a:sym typeface="Wingdings"/>
              </a:rPr>
              <a:t></a:t>
            </a:r>
            <a:r>
              <a:rPr lang="de-DE" sz="7200" dirty="0"/>
              <a:t> schwere Teilung von Wirtschaft &amp; Politik</a:t>
            </a:r>
          </a:p>
          <a:p>
            <a:r>
              <a:rPr lang="de-DE" sz="7200" dirty="0"/>
              <a:t>dank Globalisierung können Unternehmen nationalen Regeln (rechtlich/moralisch) ausweichen und sogar politische Akteure gegeneinander ausspielen</a:t>
            </a:r>
          </a:p>
          <a:p>
            <a:r>
              <a:rPr lang="de-DE" sz="7200" dirty="0"/>
              <a:t>Unternehmensaktivitäten können dort ausgeführt werden, wo Profit am größten ist</a:t>
            </a:r>
          </a:p>
          <a:p>
            <a:r>
              <a:rPr lang="de-DE" sz="7200" dirty="0"/>
              <a:t>Wettbewerb der Staaten z.B. um geringere Löhne, Steuern</a:t>
            </a:r>
          </a:p>
          <a:p>
            <a:r>
              <a:rPr lang="de-DE" sz="7200" dirty="0"/>
              <a:t>Ungleichgewicht zwischen Staat &amp; Wirtschaft entsteht, wenn außerhalb des Nationalstaates kein funktionsfähiges </a:t>
            </a:r>
            <a:r>
              <a:rPr lang="de-DE" sz="7200" dirty="0" err="1"/>
              <a:t>Governancekonzept</a:t>
            </a:r>
            <a:r>
              <a:rPr lang="de-DE" sz="7200" dirty="0"/>
              <a:t> gibt</a:t>
            </a:r>
          </a:p>
          <a:p>
            <a:r>
              <a:rPr lang="de-DE" sz="7200" dirty="0"/>
              <a:t>früher: Abwehr der Bürger gegen Staat</a:t>
            </a:r>
          </a:p>
          <a:p>
            <a:r>
              <a:rPr lang="de-DE" sz="7200" dirty="0"/>
              <a:t>heute: mehr gegen ökonomischen Sektor</a:t>
            </a:r>
          </a:p>
          <a:p>
            <a:r>
              <a:rPr lang="de-DE" sz="7200" dirty="0"/>
              <a:t>Bsp. </a:t>
            </a:r>
            <a:r>
              <a:rPr lang="de-DE" sz="7200" dirty="0" err="1"/>
              <a:t>NGO‘s</a:t>
            </a:r>
            <a:r>
              <a:rPr lang="de-DE" sz="7200" dirty="0"/>
              <a:t> (Amnesty International, Greenpeace,…) gehen mehr gegen Unternehmen als gegen den Staat vor</a:t>
            </a:r>
          </a:p>
          <a:p>
            <a:endParaRPr lang="de-DE" sz="5300" dirty="0"/>
          </a:p>
          <a:p>
            <a:endParaRPr lang="de-DE" sz="5300" dirty="0"/>
          </a:p>
          <a:p>
            <a:endParaRPr lang="de-DE" sz="5300" dirty="0"/>
          </a:p>
          <a:p>
            <a:endParaRPr lang="de-DE" sz="5300" dirty="0"/>
          </a:p>
          <a:p>
            <a:endParaRPr lang="de-DE" sz="53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00EDF-6BF1-F440-8CD2-E8B8B979CC7C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2. Die postnationale Konstellation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11</a:t>
            </a:fld>
            <a:endParaRPr lang="de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6143668"/>
          </a:xfrm>
        </p:spPr>
        <p:txBody>
          <a:bodyPr>
            <a:normAutofit fontScale="85000" lnSpcReduction="20000"/>
          </a:bodyPr>
          <a:lstStyle/>
          <a:p>
            <a:r>
              <a:rPr lang="de-DE" sz="2500" dirty="0"/>
              <a:t>Globalisierung &amp; Individualisierung behindern auch die Steuerung der Moral</a:t>
            </a:r>
          </a:p>
          <a:p>
            <a:r>
              <a:rPr lang="de-DE" sz="2500" dirty="0"/>
              <a:t>1) Individualprozesse führen zur Pluralisierung von Wertvorstellungen</a:t>
            </a:r>
          </a:p>
          <a:p>
            <a:r>
              <a:rPr lang="de-DE" sz="2500" dirty="0"/>
              <a:t>2) Moralvorstellungen verschiedener Kulturen durch globale Vernetzung zusammengerückt</a:t>
            </a:r>
          </a:p>
          <a:p>
            <a:r>
              <a:rPr lang="de-DE" sz="2500" dirty="0"/>
              <a:t>beide Punkte ziehen verschiedene Beurteilungen von gut und schlecht nach sich</a:t>
            </a:r>
          </a:p>
          <a:p>
            <a:r>
              <a:rPr lang="de-DE" sz="2500" dirty="0"/>
              <a:t>einige Unternehmen weichen der CSR aus</a:t>
            </a:r>
          </a:p>
          <a:p>
            <a:r>
              <a:rPr lang="de-DE" sz="2500" dirty="0"/>
              <a:t>Menschenrechtsverletzungen, Kooperation mit diktatorischen Regimen, Umweltverschmutzungen</a:t>
            </a:r>
          </a:p>
          <a:p>
            <a:r>
              <a:rPr lang="de-DE" sz="2500" dirty="0"/>
              <a:t>Andere versuchen durch CSR langfristige Gewinne in unstabilen Regionen zu erzielen</a:t>
            </a:r>
          </a:p>
          <a:p>
            <a:r>
              <a:rPr lang="de-DE" sz="2500" dirty="0"/>
              <a:t>Rechtliche Stabilität &amp; moralische Orientierung sind als „knappe Ressourcen“ zu betrachten</a:t>
            </a:r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FB0B-EFED-994B-BB26-4497F69BED6F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2. Die postnationale Konstellation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12</a:t>
            </a:fld>
            <a:endParaRPr lang="de-D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511156"/>
          </a:xfrm>
        </p:spPr>
        <p:txBody>
          <a:bodyPr>
            <a:noAutofit/>
          </a:bodyPr>
          <a:lstStyle/>
          <a:p>
            <a:r>
              <a:rPr lang="de-DE" sz="4000" dirty="0"/>
              <a:t>3. Politisierung der Unternehmung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1497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de-DE" sz="1800" b="1" dirty="0"/>
              <a:t>3.1 Bewertung der CSR</a:t>
            </a:r>
          </a:p>
          <a:p>
            <a:r>
              <a:rPr lang="de-DE" sz="1800" dirty="0"/>
              <a:t>CSR ist in Folge von unfairem und diskriminierendem Wirtschaftsverhalten und Sozial- und Finanzskandale entstanden</a:t>
            </a:r>
          </a:p>
          <a:p>
            <a:r>
              <a:rPr lang="de-DE" sz="1800" dirty="0"/>
              <a:t>richtige Definition der CSR und Integration von ethischem Anliegen &amp; Management in konkrete Fälle</a:t>
            </a:r>
          </a:p>
          <a:p>
            <a:r>
              <a:rPr lang="de-DE" sz="1800" dirty="0"/>
              <a:t>Debatten um CSR bilden 2 Forschungslager</a:t>
            </a:r>
          </a:p>
          <a:p>
            <a:r>
              <a:rPr lang="de-DE" sz="1800" dirty="0"/>
              <a:t>1) Positivismus: Interpretationen nur anhand von empirischen Wirtschaftsforschungen zur Erklärung von Korrelationen und kausalen Zusammenhänge in sozialer Umwelt </a:t>
            </a:r>
          </a:p>
          <a:p>
            <a:r>
              <a:rPr lang="de-DE" sz="1800" dirty="0"/>
              <a:t>nach deren Aufklärung praktische Anwendung im Management</a:t>
            </a:r>
          </a:p>
          <a:p>
            <a:r>
              <a:rPr lang="de-DE" sz="1800" dirty="0"/>
              <a:t>Kritik: nur eine instrumentelle Interpretation im Rahmen einer Wirtschaftstheorie, ohne moralische Grundlage</a:t>
            </a:r>
          </a:p>
          <a:p>
            <a:endParaRPr lang="de-DE" sz="2000" dirty="0"/>
          </a:p>
          <a:p>
            <a:endParaRPr lang="de-DE" sz="200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4BB0D-1A8F-CD45-809A-2EF89729D1F8}" type="datetime1">
              <a:rPr lang="de-DE" smtClean="0"/>
              <a:t>23.09.2026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13</a:t>
            </a:fld>
            <a:endParaRPr lang="de-D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309668"/>
            <a:ext cx="8229600" cy="6143668"/>
          </a:xfrm>
        </p:spPr>
        <p:txBody>
          <a:bodyPr>
            <a:normAutofit fontScale="25000" lnSpcReduction="20000"/>
          </a:bodyPr>
          <a:lstStyle/>
          <a:p>
            <a:r>
              <a:rPr lang="de-DE" sz="8400" dirty="0"/>
              <a:t>2) Post-Positivismus (Normative Forschung): sucht Verbindung zu diversen Ethikthemen</a:t>
            </a:r>
          </a:p>
          <a:p>
            <a:r>
              <a:rPr lang="de-DE" sz="8400" dirty="0"/>
              <a:t>z.B. Vertragstheoretische Modell nach Donaldson und </a:t>
            </a:r>
            <a:r>
              <a:rPr lang="de-DE" sz="8400" dirty="0" err="1"/>
              <a:t>Dunfees</a:t>
            </a:r>
            <a:endParaRPr lang="de-DE" sz="8400" dirty="0"/>
          </a:p>
          <a:p>
            <a:r>
              <a:rPr lang="de-DE" sz="8400" dirty="0"/>
              <a:t>kritische Stellung zur </a:t>
            </a:r>
            <a:r>
              <a:rPr lang="de-DE" sz="8400" dirty="0" err="1"/>
              <a:t>positivistescher</a:t>
            </a:r>
            <a:r>
              <a:rPr lang="de-DE" sz="8400" dirty="0"/>
              <a:t> Theorie</a:t>
            </a:r>
          </a:p>
          <a:p>
            <a:r>
              <a:rPr lang="de-DE" sz="8400" dirty="0"/>
              <a:t>Kritik: keine objektive Bewertung der Zusammenhänge, sondern mehr moralisches Urteilsvermögen &amp; Vorschriften</a:t>
            </a:r>
          </a:p>
          <a:p>
            <a:r>
              <a:rPr lang="de-DE" sz="8400" dirty="0"/>
              <a:t>zentrales Problem: Wie werden Entscheidungen von anderen Akteuren bewertet?</a:t>
            </a:r>
          </a:p>
          <a:p>
            <a:r>
              <a:rPr lang="de-DE" sz="8400" dirty="0"/>
              <a:t>beide Sichtweisen stellen Teilung von Wirtschaft &amp; Politik nicht in Frage</a:t>
            </a:r>
          </a:p>
          <a:p>
            <a:r>
              <a:rPr lang="de-DE" sz="8400" dirty="0"/>
              <a:t>Fragen bzgl. CSR und der politischen </a:t>
            </a:r>
            <a:r>
              <a:rPr lang="de-DE" sz="8400" dirty="0" err="1"/>
              <a:t>Governance</a:t>
            </a:r>
            <a:r>
              <a:rPr lang="de-DE" sz="8400" dirty="0"/>
              <a:t> werden zusammen betrachtet</a:t>
            </a:r>
          </a:p>
          <a:p>
            <a:r>
              <a:rPr lang="de-DE" sz="8400" dirty="0"/>
              <a:t>Sinn der Forschungsanalysen werden dort nachgefragt, wo </a:t>
            </a:r>
            <a:r>
              <a:rPr lang="de-DE" sz="8400" dirty="0" err="1"/>
              <a:t>Governancekontext</a:t>
            </a:r>
            <a:r>
              <a:rPr lang="de-DE" sz="8400" dirty="0"/>
              <a:t> versagt und Effizienz/Legitimität demokratischer Institutionen zweifelhaft sind</a:t>
            </a:r>
          </a:p>
          <a:p>
            <a:endParaRPr lang="de-DE" sz="10000" dirty="0"/>
          </a:p>
          <a:p>
            <a:pPr>
              <a:buNone/>
            </a:pP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414C-3E03-8848-8F60-4A1C1AD9FAE4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3. Politisierung der Unternehmung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14</a:t>
            </a:fld>
            <a:endParaRPr lang="de-D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 fontScale="92500"/>
          </a:bodyPr>
          <a:lstStyle/>
          <a:p>
            <a:r>
              <a:rPr lang="de-DE" sz="2500" dirty="0" err="1"/>
              <a:t>Bsp</a:t>
            </a:r>
            <a:r>
              <a:rPr lang="de-DE" sz="2500" dirty="0"/>
              <a:t>: Medici (italienische Dynastie) machten keine Geschäfte mit Leuten, die von Krieg, Kriminalität und anderen Verbrechen überschattet waren</a:t>
            </a:r>
          </a:p>
          <a:p>
            <a:r>
              <a:rPr lang="de-DE" sz="2500" dirty="0"/>
              <a:t>deshalb versuchten Medici durch Politik z.B. Kriege zu verhindern</a:t>
            </a:r>
          </a:p>
          <a:p>
            <a:r>
              <a:rPr lang="de-DE" sz="2500" dirty="0"/>
              <a:t>strebten nach Schaffung von stabilen gesellschaftlichen Rahmenbedingungen für eigene Geschäftserfolge</a:t>
            </a:r>
          </a:p>
          <a:p>
            <a:r>
              <a:rPr lang="de-DE" sz="2500" dirty="0"/>
              <a:t>als wären sie selber politische Akteure</a:t>
            </a:r>
          </a:p>
          <a:p>
            <a:r>
              <a:rPr lang="de-DE" sz="2500" dirty="0"/>
              <a:t>Moderne Bsp.: </a:t>
            </a:r>
            <a:r>
              <a:rPr lang="de-DE" sz="2500" dirty="0" err="1"/>
              <a:t>Kyotoprotokoll</a:t>
            </a:r>
            <a:r>
              <a:rPr lang="de-DE" sz="2500" dirty="0"/>
              <a:t>, Bekämpfung von AIDS in Afrika</a:t>
            </a:r>
          </a:p>
          <a:p>
            <a:r>
              <a:rPr lang="de-DE" sz="2500" dirty="0"/>
              <a:t>in Theorie: strenge Arbeitsteilung von Wirtschaft &amp; Politik</a:t>
            </a:r>
          </a:p>
          <a:p>
            <a:r>
              <a:rPr lang="de-DE" sz="2500" dirty="0"/>
              <a:t>in Praxis: Unternehmen handeln politisch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EA2C9-E935-3D47-872A-4542A9853C69}" type="datetime1">
              <a:rPr lang="de-DE" smtClean="0"/>
              <a:t>23.09.2026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de-DE" dirty="0"/>
              <a:t>3. Politisierung der Unternehmung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de-DE" sz="2500" b="1" dirty="0"/>
              <a:t>3.2 Politische Aspekte der CSR</a:t>
            </a:r>
          </a:p>
          <a:p>
            <a:r>
              <a:rPr lang="de-DE" sz="2500" dirty="0"/>
              <a:t>CSR hat 3 politische Punkte:</a:t>
            </a:r>
          </a:p>
          <a:p>
            <a:r>
              <a:rPr lang="de-DE" sz="2500" dirty="0"/>
              <a:t>1) Code </a:t>
            </a:r>
            <a:r>
              <a:rPr lang="de-DE" sz="2500" dirty="0" err="1"/>
              <a:t>of</a:t>
            </a:r>
            <a:r>
              <a:rPr lang="de-DE" sz="2500" dirty="0"/>
              <a:t> </a:t>
            </a:r>
            <a:r>
              <a:rPr lang="de-DE" sz="2500" dirty="0" err="1"/>
              <a:t>Conduct</a:t>
            </a:r>
            <a:r>
              <a:rPr lang="de-DE" sz="2500" dirty="0"/>
              <a:t>: Ersetzen von fehlenden, gesetzlichen Regeln</a:t>
            </a:r>
          </a:p>
          <a:p>
            <a:r>
              <a:rPr lang="de-DE" sz="2500" dirty="0"/>
              <a:t>2) Mitarbeit an Gründung von politischen Institutionen zur Überwachung dieser Regeln </a:t>
            </a:r>
          </a:p>
          <a:p>
            <a:r>
              <a:rPr lang="de-DE" sz="2500" dirty="0"/>
              <a:t>Bsp.: </a:t>
            </a:r>
            <a:r>
              <a:rPr lang="de-DE" sz="2500" dirty="0" err="1"/>
              <a:t>Forest</a:t>
            </a:r>
            <a:r>
              <a:rPr lang="de-DE" sz="2500" dirty="0"/>
              <a:t> Steward </a:t>
            </a:r>
            <a:r>
              <a:rPr lang="de-DE" sz="2500" dirty="0" err="1"/>
              <a:t>Ship</a:t>
            </a:r>
            <a:endParaRPr lang="de-DE" sz="2500" dirty="0"/>
          </a:p>
          <a:p>
            <a:r>
              <a:rPr lang="de-DE" sz="2500" dirty="0"/>
              <a:t>3) Beteiligung der Unternehmen an Lösung globaler </a:t>
            </a:r>
            <a:r>
              <a:rPr lang="de-DE" sz="2500" dirty="0" err="1"/>
              <a:t>Herausfordernungen</a:t>
            </a:r>
            <a:r>
              <a:rPr lang="de-DE" sz="2500" dirty="0"/>
              <a:t> z.B. Menschenrechte</a:t>
            </a:r>
          </a:p>
          <a:p>
            <a:r>
              <a:rPr lang="de-DE" sz="2500" dirty="0"/>
              <a:t>Zusammengefasst: Einmischen von wirtschaftlichen Akteuren in politische Steuerung und Problemlösungen </a:t>
            </a:r>
            <a:r>
              <a:rPr lang="de-DE" sz="2500" dirty="0">
                <a:sym typeface="Wingdings"/>
              </a:rPr>
              <a:t></a:t>
            </a:r>
            <a:r>
              <a:rPr lang="de-DE" sz="2500" dirty="0"/>
              <a:t> Dezentralisierung politischer Autorität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109C-CC82-6247-A205-4FBF523B960B}" type="datetime1">
              <a:rPr lang="de-DE" smtClean="0"/>
              <a:t>23.09.2026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de-DE" dirty="0"/>
              <a:t>3. Politisierung der Unternehmung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These Palazzo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Ausrichtung von CSR an postnationaler Konstellation des 21. Jahrhunderts notwendig</a:t>
            </a:r>
          </a:p>
          <a:p>
            <a:r>
              <a:rPr lang="de-DE" dirty="0"/>
              <a:t>Nationalstaatlich begrenzter Liberalismus nicht ausreichend als theoretische Basis</a:t>
            </a:r>
          </a:p>
          <a:p>
            <a:r>
              <a:rPr lang="de-DE" dirty="0"/>
              <a:t>Ein tragfähigeres Fundament wird benötigt</a:t>
            </a:r>
          </a:p>
          <a:p>
            <a:r>
              <a:rPr lang="de-DE" dirty="0">
                <a:sym typeface="Wingdings"/>
              </a:rPr>
              <a:t>Alternative hat notwendigerweise diskursiven Charakter!</a:t>
            </a:r>
          </a:p>
          <a:p>
            <a:r>
              <a:rPr lang="de-DE" dirty="0">
                <a:sym typeface="Wingdings"/>
              </a:rPr>
              <a:t> Habermas Theorie </a:t>
            </a:r>
            <a:r>
              <a:rPr lang="de-DE" dirty="0" err="1">
                <a:sym typeface="Wingdings"/>
              </a:rPr>
              <a:t>deliberativer</a:t>
            </a:r>
            <a:r>
              <a:rPr lang="de-DE" dirty="0">
                <a:sym typeface="Wingdings"/>
              </a:rPr>
              <a:t> Demokratie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1F2CF-BF01-8347-AB6B-9A368CF829EF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4950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</a:t>
            </a:r>
            <a:r>
              <a:rPr lang="en-GB" dirty="0" err="1"/>
              <a:t>Theorie</a:t>
            </a:r>
            <a:r>
              <a:rPr lang="en-GB" dirty="0"/>
              <a:t> </a:t>
            </a:r>
            <a:r>
              <a:rPr lang="en-GB" dirty="0" err="1"/>
              <a:t>deliberativer</a:t>
            </a:r>
            <a:r>
              <a:rPr lang="en-GB" dirty="0"/>
              <a:t> </a:t>
            </a:r>
            <a:r>
              <a:rPr lang="en-GB" dirty="0" err="1"/>
              <a:t>Demokratie</a:t>
            </a:r>
            <a:endParaRPr lang="en-GB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Anbindung politischer Entscheidungsprozesse an zivilgesellschaftliche Meinungs- und Willensbildung</a:t>
            </a:r>
          </a:p>
          <a:p>
            <a:r>
              <a:rPr lang="de-DE" dirty="0"/>
              <a:t>Wert- und normbildende Kommunikation finden zunächst im privatem Kreis statt</a:t>
            </a:r>
          </a:p>
          <a:p>
            <a:r>
              <a:rPr lang="de-DE" dirty="0"/>
              <a:t>Durch Veränderung des normativen Rahmens werden politische Entscheidungen indirekt beeinflusst </a:t>
            </a:r>
          </a:p>
          <a:p>
            <a:r>
              <a:rPr lang="de-DE" dirty="0">
                <a:sym typeface="Wingdings"/>
              </a:rPr>
              <a:t> Legitimität wird diskursiv produziert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97BF-54EC-694E-B139-557D311E6D4D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4290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5. Theorie </a:t>
            </a:r>
            <a:r>
              <a:rPr lang="de-DE" dirty="0" err="1"/>
              <a:t>deliberativer</a:t>
            </a:r>
            <a:r>
              <a:rPr lang="de-DE" dirty="0"/>
              <a:t> Demokratie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Legitimität von Unternehmen hängt von der Anbindung an die im zivilgesellschaftlichen Diskurs erzeugte Öffentlichkeit ab </a:t>
            </a:r>
          </a:p>
          <a:p>
            <a:r>
              <a:rPr lang="de-DE" dirty="0"/>
              <a:t>An Stelle passiver Konformität mit geltenden Spielregeln tritt explizite Beteiligung an öffentlichen Diskursen in denen das eigene Verhalten mit guten Gründen gerechtfertigt werden muss</a:t>
            </a:r>
          </a:p>
          <a:p>
            <a:r>
              <a:rPr lang="de-DE" dirty="0"/>
              <a:t>Schwindende rechtliche Sanktionskraft wird teilweise durch zivilgesellschaftliche Sanktionskraft ersetzt</a:t>
            </a:r>
          </a:p>
          <a:p>
            <a:r>
              <a:rPr lang="de-DE" dirty="0">
                <a:sym typeface="Wingdings"/>
              </a:rPr>
              <a:t>Bsp. gelebter CSR: Chiquita, Coca Cola, HP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1C269-E3DA-DC46-84DC-13F0A61A923A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6883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 </a:t>
            </a:r>
            <a:r>
              <a:rPr lang="de-DE" dirty="0" err="1"/>
              <a:t>Governanceethik</a:t>
            </a:r>
            <a:r>
              <a:rPr lang="de-DE" dirty="0"/>
              <a:t> als </a:t>
            </a:r>
            <a:r>
              <a:rPr lang="de-DE" dirty="0" err="1"/>
              <a:t>politsche</a:t>
            </a:r>
            <a:r>
              <a:rPr lang="de-DE" dirty="0"/>
              <a:t> Ethik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6.1 </a:t>
            </a:r>
            <a:r>
              <a:rPr lang="de-DE" b="1" dirty="0" err="1"/>
              <a:t>Governanceethik</a:t>
            </a:r>
            <a:r>
              <a:rPr lang="de-DE" b="1" dirty="0"/>
              <a:t> ursprünglich</a:t>
            </a:r>
          </a:p>
          <a:p>
            <a:r>
              <a:rPr lang="de-DE" dirty="0"/>
              <a:t>Bezieht sich nur auf die Steuerung von Unternehmen</a:t>
            </a:r>
          </a:p>
          <a:p>
            <a:r>
              <a:rPr lang="de-DE" dirty="0"/>
              <a:t>Veränderung im Zuge der Globalisierung</a:t>
            </a:r>
          </a:p>
          <a:p>
            <a:r>
              <a:rPr lang="de-DE" dirty="0"/>
              <a:t>Vorschlag: Politisierung der G.E.</a:t>
            </a:r>
            <a:endParaRPr lang="de-DE" dirty="0">
              <a:sym typeface="Wingdings"/>
            </a:endParaRPr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0DBAC-D346-AB40-8169-4CE7BC1F3E52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8259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98475" y="332656"/>
            <a:ext cx="8147051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6.2 </a:t>
            </a:r>
            <a:r>
              <a:rPr lang="de-DE" b="1" dirty="0" err="1"/>
              <a:t>Governanceethik</a:t>
            </a:r>
            <a:r>
              <a:rPr lang="de-DE" b="1" dirty="0"/>
              <a:t> </a:t>
            </a:r>
            <a:r>
              <a:rPr lang="de-DE" b="1" dirty="0" err="1"/>
              <a:t>deliberativ</a:t>
            </a:r>
            <a:r>
              <a:rPr lang="de-DE" b="1" dirty="0"/>
              <a:t>?</a:t>
            </a:r>
          </a:p>
          <a:p>
            <a:r>
              <a:rPr lang="de-DE" dirty="0"/>
              <a:t>Unternehmen hat zunehmend gesellschaftliche Steuerungsaufgabe in Zeiten der Globalisierung</a:t>
            </a:r>
          </a:p>
          <a:p>
            <a:r>
              <a:rPr lang="de-DE" dirty="0"/>
              <a:t>Die Entscheidungslogik des politischen Systems wird gekoppelt mit dem der Wirtschaft: „Dem Staat tritt die Unternehmung an die Seite“</a:t>
            </a:r>
          </a:p>
          <a:p>
            <a:r>
              <a:rPr lang="de-DE" dirty="0"/>
              <a:t>Legitimität durch Steuerungsfähigkeit und Kooperationsakte in Gesellschaften unter der Mitwirkung von Unternehmen </a:t>
            </a:r>
          </a:p>
          <a:p>
            <a:r>
              <a:rPr lang="de-DE" dirty="0"/>
              <a:t>Ordnungspolitischer Referenzpunkt bilden die Gesellschaft freier Bürger und Ihrer Organisationen </a:t>
            </a:r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7EF3F-C960-DF47-8B22-8A4AB7B80B54}" type="datetime1">
              <a:rPr lang="de-DE" smtClean="0"/>
              <a:t>23.09.2026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6. </a:t>
            </a:r>
            <a:r>
              <a:rPr lang="de-DE" dirty="0" err="1"/>
              <a:t>Governanceethik</a:t>
            </a:r>
            <a:r>
              <a:rPr lang="de-DE" dirty="0"/>
              <a:t> als politische Ethik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822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98475" y="332656"/>
            <a:ext cx="8147051" cy="5793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>
                <a:sym typeface="Wingdings"/>
              </a:rPr>
              <a:t>6.3 </a:t>
            </a:r>
            <a:r>
              <a:rPr lang="de-DE" b="1" dirty="0" err="1"/>
              <a:t>Governanceethik</a:t>
            </a:r>
            <a:r>
              <a:rPr lang="de-DE" b="1" dirty="0"/>
              <a:t> </a:t>
            </a:r>
            <a:r>
              <a:rPr lang="de-DE" b="1" dirty="0">
                <a:sym typeface="Wingdings"/>
              </a:rPr>
              <a:t>pragmatisch?</a:t>
            </a:r>
          </a:p>
          <a:p>
            <a:r>
              <a:rPr lang="de-DE" dirty="0">
                <a:sym typeface="Wingdings"/>
              </a:rPr>
              <a:t>Kein Vorrang der Ethik vor der Ökonomik</a:t>
            </a:r>
          </a:p>
          <a:p>
            <a:r>
              <a:rPr lang="de-DE" dirty="0">
                <a:sym typeface="Wingdings"/>
              </a:rPr>
              <a:t>Bei Vorrang der Demokratie wird Konflikt zwischen Ethik und Ökonomik entschärft (Rorty)</a:t>
            </a:r>
          </a:p>
          <a:p>
            <a:r>
              <a:rPr lang="de-DE" dirty="0">
                <a:sym typeface="Wingdings"/>
              </a:rPr>
              <a:t>Moralische Performance einer Handlung/Transaktion hängt von der Leistungsfähigkeit ihrer </a:t>
            </a:r>
            <a:r>
              <a:rPr lang="de-DE" dirty="0" err="1">
                <a:sym typeface="Wingdings"/>
              </a:rPr>
              <a:t>Governance</a:t>
            </a:r>
            <a:r>
              <a:rPr lang="de-DE" dirty="0">
                <a:sym typeface="Wingdings"/>
              </a:rPr>
              <a:t> ab</a:t>
            </a:r>
          </a:p>
          <a:p>
            <a:r>
              <a:rPr lang="de-DE" dirty="0"/>
              <a:t>„Gesellschaftliche Institutionen... als Experimente der Zusammenarbeit“ (Rorty)</a:t>
            </a:r>
          </a:p>
          <a:p>
            <a:r>
              <a:rPr lang="de-DE" dirty="0"/>
              <a:t>Keine endgültige Antworte nach dem guten und richtigen Leben (Putnam)</a:t>
            </a:r>
          </a:p>
          <a:p>
            <a:endParaRPr lang="de-DE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71466-A93D-3149-A374-92A135650B3C}" type="datetime1">
              <a:rPr lang="de-DE" smtClean="0"/>
              <a:t>23.09.2026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6. </a:t>
            </a:r>
            <a:r>
              <a:rPr lang="de-DE" dirty="0" err="1"/>
              <a:t>Governanceethik</a:t>
            </a:r>
            <a:r>
              <a:rPr lang="de-DE" dirty="0"/>
              <a:t> als politische Ethik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5427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98475" y="332656"/>
            <a:ext cx="8147051" cy="5793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6.4 Demokratische Einbettung </a:t>
            </a:r>
          </a:p>
          <a:p>
            <a:r>
              <a:rPr lang="de-DE" dirty="0"/>
              <a:t>Wieland selbst formuliert noch keinen demokratietheoretischen Kontext</a:t>
            </a:r>
          </a:p>
          <a:p>
            <a:r>
              <a:rPr lang="de-DE" dirty="0">
                <a:sym typeface="Wingdings"/>
              </a:rPr>
              <a:t> scheint aber zwingend wenn weitergedacht</a:t>
            </a:r>
            <a:endParaRPr lang="de-DE" dirty="0"/>
          </a:p>
          <a:p>
            <a:r>
              <a:rPr lang="de-DE" dirty="0"/>
              <a:t>Demokratie ist wesentlicher Bezugspunkt von </a:t>
            </a:r>
            <a:r>
              <a:rPr lang="de-DE" dirty="0" err="1"/>
              <a:t>Governance</a:t>
            </a:r>
            <a:endParaRPr lang="de-DE" dirty="0"/>
          </a:p>
          <a:p>
            <a:r>
              <a:rPr lang="de-DE" dirty="0">
                <a:sym typeface="Wingdings"/>
              </a:rPr>
              <a:t> Menschenrechte, Freiheit, diskursive Rechtfertigungsprozesse, Transparenz, </a:t>
            </a:r>
            <a:r>
              <a:rPr lang="de-DE" dirty="0" err="1">
                <a:sym typeface="Wingdings"/>
              </a:rPr>
              <a:t>Accountability</a:t>
            </a:r>
            <a:r>
              <a:rPr lang="de-DE" dirty="0">
                <a:sym typeface="Wingdings"/>
              </a:rPr>
              <a:t>, etc. implizit enthalten</a:t>
            </a:r>
          </a:p>
          <a:p>
            <a:r>
              <a:rPr lang="de-DE" dirty="0"/>
              <a:t>Sie sind Indikatoren für Gesellschaftliche Integration (normativer Gehalt)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30C60-8B22-B341-8649-80D43ED33381}" type="datetime1">
              <a:rPr lang="de-DE" smtClean="0"/>
              <a:t>23.09.2026</a:t>
            </a:fld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10" name="Fußzeilenplatzhalt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r>
              <a:rPr lang="de-DE" dirty="0"/>
              <a:t>6. </a:t>
            </a:r>
            <a:r>
              <a:rPr lang="de-DE" dirty="0" err="1"/>
              <a:t>Governanceethik</a:t>
            </a:r>
            <a:r>
              <a:rPr lang="de-DE" dirty="0"/>
              <a:t> als politische Ethik</a:t>
            </a:r>
          </a:p>
        </p:txBody>
      </p:sp>
    </p:spTree>
    <p:extLst>
      <p:ext uri="{BB962C8B-B14F-4D97-AF65-F5344CB8AC3E}">
        <p14:creationId xmlns:p14="http://schemas.microsoft.com/office/powerpoint/2010/main" val="1084995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7. Diskursive Elemente der </a:t>
            </a:r>
            <a:r>
              <a:rPr lang="de-DE" dirty="0" err="1"/>
              <a:t>Governanceethik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Relevanz von Moral muss immer neu erarbeitet werden als „Kooperativer Lernprozess“</a:t>
            </a:r>
          </a:p>
          <a:p>
            <a:r>
              <a:rPr lang="de-DE" dirty="0"/>
              <a:t>moralische Dimension von </a:t>
            </a:r>
            <a:r>
              <a:rPr lang="de-DE" dirty="0" err="1"/>
              <a:t>Ökonomie</a:t>
            </a:r>
            <a:r>
              <a:rPr lang="de-DE" dirty="0"/>
              <a:t> als "das Ergebnis ethischer Diskurse in der Gesellschaft“</a:t>
            </a:r>
          </a:p>
          <a:p>
            <a:r>
              <a:rPr lang="de-DE" dirty="0"/>
              <a:t>Gemeinsame Abarbeitung von Wertkonflikten im globalen Raum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8E758-6D9D-E747-96CC-60B9D0FE5FD6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009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8. Fazit &amp; Ausblick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Pol. Einbettung von G.E. notwendig und ausarbeitungswürdig</a:t>
            </a:r>
          </a:p>
          <a:p>
            <a:r>
              <a:rPr lang="de-DE" dirty="0"/>
              <a:t>Einbettung zwingend pragmatisch (Demokratie vor Philosophie)</a:t>
            </a:r>
          </a:p>
          <a:p>
            <a:r>
              <a:rPr lang="de-DE" dirty="0"/>
              <a:t>Deliberation und Diskurs sind wichtige Element von G.E.</a:t>
            </a:r>
          </a:p>
          <a:p>
            <a:r>
              <a:rPr lang="de-DE" dirty="0" err="1"/>
              <a:t>Möglw</a:t>
            </a:r>
            <a:r>
              <a:rPr lang="de-DE" dirty="0"/>
              <a:t>. anschlussfähig an die Theorie der </a:t>
            </a:r>
            <a:r>
              <a:rPr lang="de-DE" dirty="0" err="1"/>
              <a:t>deliberativen</a:t>
            </a:r>
            <a:r>
              <a:rPr lang="de-DE" dirty="0"/>
              <a:t> Demokratie und Diskursethik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ACE41-21CE-6849-B5D7-A5EF3F358FE0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42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9. Kritische Würdigung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Argumentation sehr überzeugen, dass Unternehmen auch zunehmend pol. Akteure sind</a:t>
            </a:r>
          </a:p>
          <a:p>
            <a:r>
              <a:rPr lang="de-DE" dirty="0" err="1"/>
              <a:t>Deliberative</a:t>
            </a:r>
            <a:r>
              <a:rPr lang="de-DE" dirty="0"/>
              <a:t> und diskursive Einbettung v. </a:t>
            </a:r>
            <a:r>
              <a:rPr lang="de-DE" dirty="0" err="1"/>
              <a:t>Governanceethik</a:t>
            </a:r>
            <a:r>
              <a:rPr lang="de-DE" dirty="0"/>
              <a:t> in demokratischen Kontext klingt plausibel</a:t>
            </a:r>
          </a:p>
          <a:p>
            <a:r>
              <a:rPr lang="de-DE" dirty="0"/>
              <a:t>Unternehmen wird aus der Rolle des „</a:t>
            </a:r>
            <a:r>
              <a:rPr lang="de-DE" dirty="0" err="1"/>
              <a:t>bad</a:t>
            </a:r>
            <a:r>
              <a:rPr lang="de-DE" dirty="0"/>
              <a:t> </a:t>
            </a:r>
            <a:r>
              <a:rPr lang="de-DE" dirty="0" err="1"/>
              <a:t>guy</a:t>
            </a:r>
            <a:r>
              <a:rPr lang="de-DE" dirty="0"/>
              <a:t>“ geholt und in </a:t>
            </a:r>
            <a:r>
              <a:rPr lang="de-DE" dirty="0" err="1"/>
              <a:t>partizipativen</a:t>
            </a:r>
            <a:r>
              <a:rPr lang="de-DE" dirty="0"/>
              <a:t> Prozess eingebunden</a:t>
            </a:r>
          </a:p>
          <a:p>
            <a:r>
              <a:rPr lang="de-DE" dirty="0"/>
              <a:t>Mögliche praktische Probleme:</a:t>
            </a:r>
          </a:p>
          <a:p>
            <a:r>
              <a:rPr lang="de-DE" dirty="0"/>
              <a:t>1) Kräfteverhältnis Zivilgesellschaft/Wirtschaft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B41B8-4F9B-454A-9CC7-7DC7975C5086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8628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10. Diskussion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Wenn unternehmen stärker in die Politik einbezogen werden führt das dann dazu, dass sie eher im Sinne der Zivilgesellschaft handeln oder durch </a:t>
            </a:r>
            <a:r>
              <a:rPr lang="de-DE" dirty="0" err="1"/>
              <a:t>möglw</a:t>
            </a:r>
            <a:r>
              <a:rPr lang="de-DE" dirty="0"/>
              <a:t>. größeren Einfluss noch stärker profitorientierte Ziele verfolgen können? </a:t>
            </a:r>
          </a:p>
          <a:p>
            <a:r>
              <a:rPr lang="de-DE" dirty="0"/>
              <a:t>Plakativ: Verantwortungsübernahme durch Integration oder Lobbying 2.0?</a:t>
            </a:r>
          </a:p>
          <a:p>
            <a:r>
              <a:rPr lang="de-DE" dirty="0"/>
              <a:t>Corporate </a:t>
            </a:r>
            <a:r>
              <a:rPr lang="de-DE" dirty="0" err="1"/>
              <a:t>Social</a:t>
            </a:r>
            <a:r>
              <a:rPr lang="de-DE" dirty="0"/>
              <a:t> </a:t>
            </a:r>
            <a:r>
              <a:rPr lang="de-DE" dirty="0" err="1"/>
              <a:t>Responsibility</a:t>
            </a:r>
            <a:r>
              <a:rPr lang="de-DE" dirty="0"/>
              <a:t> ist der Grundstein für Kommunismus (nach Milton Friedman)?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93F56-8087-0143-86D4-73A533FEEF59}" type="datetime1">
              <a:rPr lang="de-DE" smtClean="0"/>
              <a:t>23.09.2026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98BC-903C-47CB-9DD0-87ED0DADECCD}" type="slidenum">
              <a:rPr lang="de-DE" smtClean="0"/>
              <a:pPr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9379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Vielen Dank für die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22083646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mphitrite">
  <a:themeElements>
    <a:clrScheme name="Amphitrite">
      <a:dk1>
        <a:srgbClr val="302C24"/>
      </a:dk1>
      <a:lt1>
        <a:sysClr val="window" lastClr="FFFFFF"/>
      </a:lt1>
      <a:dk2>
        <a:srgbClr val="AC6416"/>
      </a:dk2>
      <a:lt2>
        <a:srgbClr val="E8E4DB"/>
      </a:lt2>
      <a:accent1>
        <a:srgbClr val="C6B178"/>
      </a:accent1>
      <a:accent2>
        <a:srgbClr val="9C5B14"/>
      </a:accent2>
      <a:accent3>
        <a:srgbClr val="71B2BC"/>
      </a:accent3>
      <a:accent4>
        <a:srgbClr val="78AA5D"/>
      </a:accent4>
      <a:accent5>
        <a:srgbClr val="867099"/>
      </a:accent5>
      <a:accent6>
        <a:srgbClr val="4C6F75"/>
      </a:accent6>
      <a:hlink>
        <a:srgbClr val="F27B0E"/>
      </a:hlink>
      <a:folHlink>
        <a:srgbClr val="989268"/>
      </a:folHlink>
    </a:clrScheme>
    <a:fontScheme name="Amphitrite">
      <a:majorFont>
        <a:latin typeface="Book Antiqua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Book Antiqua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Amphitrite">
      <a:fillStyleLst>
        <a:solidFill>
          <a:schemeClr val="phClr"/>
        </a:solidFill>
        <a:gradFill rotWithShape="1">
          <a:gsLst>
            <a:gs pos="0">
              <a:schemeClr val="phClr"/>
            </a:gs>
            <a:gs pos="30000">
              <a:schemeClr val="phClr">
                <a:tint val="80000"/>
              </a:schemeClr>
            </a:gs>
            <a:gs pos="100000">
              <a:schemeClr val="phClr">
                <a:tint val="100000"/>
              </a:schemeClr>
            </a:gs>
          </a:gsLst>
          <a:path path="rect">
            <a:fillToRect l="50000" r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30000"/>
                <a:satMod val="120000"/>
              </a:schemeClr>
            </a:duotone>
          </a:blip>
          <a:stretch/>
        </a:blipFill>
      </a:fillStyleLst>
      <a:lnStyleLst>
        <a:ln w="254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50800" cap="flat" cmpd="dbl" algn="ctr">
          <a:solidFill>
            <a:schemeClr val="phClr"/>
          </a:solidFill>
          <a:prstDash val="solid"/>
        </a:ln>
        <a:ln w="7620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FFFFFF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sunrise" dir="tl">
              <a:rot lat="0" lon="0" rev="1200000"/>
            </a:lightRig>
          </a:scene3d>
          <a:sp3d prstMaterial="softEdge">
            <a:bevelT w="0" h="0"/>
          </a:sp3d>
        </a:effectStyle>
        <a:effectStyle>
          <a:effectLst>
            <a:innerShdw blurRad="76200" dist="38100" dir="13500000">
              <a:srgbClr val="FFFFFF">
                <a:alpha val="75000"/>
              </a:srgbClr>
            </a:innerShdw>
          </a:effectLst>
          <a:scene3d>
            <a:camera prst="perspectiveFront" fov="2400000"/>
            <a:lightRig rig="twoPt" dir="tl"/>
          </a:scene3d>
          <a:sp3d>
            <a:bevelT w="25400" h="12700" prst="angle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2">
            <a:duotone>
              <a:schemeClr val="phClr">
                <a:shade val="30000"/>
                <a:satMod val="250000"/>
              </a:schemeClr>
              <a:schemeClr val="phClr">
                <a:tint val="50000"/>
                <a:satMod val="200000"/>
              </a:schemeClr>
            </a:duotone>
          </a:blip>
          <a:stretch/>
        </a:blipFill>
        <a:blipFill rotWithShape="1">
          <a:blip xmlns:r="http://schemas.openxmlformats.org/officeDocument/2006/relationships" r:embed="rId3">
            <a:duotone>
              <a:schemeClr val="phClr">
                <a:shade val="90000"/>
                <a:hueMod val="90000"/>
                <a:satMod val="150000"/>
                <a:lumMod val="90000"/>
              </a:schemeClr>
              <a:schemeClr val="phClr">
                <a:tint val="70000"/>
                <a:shade val="80000"/>
                <a:satMod val="300000"/>
                <a:lumMod val="11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Amphitrite.thmx</Template>
  <TotalTime>0</TotalTime>
  <Words>1967</Words>
  <Application>Microsoft Office PowerPoint</Application>
  <PresentationFormat>On-screen Show (4:3)</PresentationFormat>
  <Paragraphs>269</Paragraphs>
  <Slides>28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Book Antiqua</vt:lpstr>
      <vt:lpstr>Calibri</vt:lpstr>
      <vt:lpstr>Wingdings</vt:lpstr>
      <vt:lpstr>Wingdings 2</vt:lpstr>
      <vt:lpstr>Amphitrite</vt:lpstr>
      <vt:lpstr>Governanceethik als Diskursethik?</vt:lpstr>
      <vt:lpstr>Überblick</vt:lpstr>
      <vt:lpstr>Überblick</vt:lpstr>
      <vt:lpstr>PowerPoint Presentation</vt:lpstr>
      <vt:lpstr>1. Politisches Fundament der Unternehmensethik</vt:lpstr>
      <vt:lpstr>PowerPoint Presentation</vt:lpstr>
      <vt:lpstr>PowerPoint Presentation</vt:lpstr>
      <vt:lpstr>PowerPoint Presentation</vt:lpstr>
      <vt:lpstr>PowerPoint Presentation</vt:lpstr>
      <vt:lpstr>2. Die postnationale Konstellation</vt:lpstr>
      <vt:lpstr>PowerPoint Presentation</vt:lpstr>
      <vt:lpstr>PowerPoint Presentation</vt:lpstr>
      <vt:lpstr>3. Politisierung der Unternehmung</vt:lpstr>
      <vt:lpstr>PowerPoint Presentation</vt:lpstr>
      <vt:lpstr>PowerPoint Presentation</vt:lpstr>
      <vt:lpstr>PowerPoint Presentation</vt:lpstr>
      <vt:lpstr>4. These Palazzo</vt:lpstr>
      <vt:lpstr>5. Theorie deliberativer Demokratie</vt:lpstr>
      <vt:lpstr>5. Theorie deliberativer Demokratie </vt:lpstr>
      <vt:lpstr>6. Governanceethik als politsche Ethik</vt:lpstr>
      <vt:lpstr>PowerPoint Presentation</vt:lpstr>
      <vt:lpstr>PowerPoint Presentation</vt:lpstr>
      <vt:lpstr>PowerPoint Presentation</vt:lpstr>
      <vt:lpstr>7. Diskursive Elemente der Governanceethik</vt:lpstr>
      <vt:lpstr>8. Fazit &amp; Ausblick</vt:lpstr>
      <vt:lpstr>9. Kritische Würdigung</vt:lpstr>
      <vt:lpstr>10. Diskussion</vt:lpstr>
      <vt:lpstr>Vielen Dank für die Aufmerksamkeit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Governanceethik als Diskursethik?</dc:title>
  <dc:creator>Michael</dc:creator>
  <cp:lastModifiedBy>mikhailpugachevskiy@gmail.com</cp:lastModifiedBy>
  <cp:revision>301</cp:revision>
  <dcterms:created xsi:type="dcterms:W3CDTF">2016-04-13T17:33:21Z</dcterms:created>
  <dcterms:modified xsi:type="dcterms:W3CDTF">2026-09-23T21:26:47Z</dcterms:modified>
</cp:coreProperties>
</file>